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72"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940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Introduce yourself, the project title, and institution.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Set the scene — what is sickle cell disease, why Uganda, what is the current diagnostic reality.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through what has been done. Foundation studies first, then more recent work. Be brief on each.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statement clearly and deliberately. Pause after it. Let it land.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is the pivot slide. Everything before led here. Speak confidently about what had not been done.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each objective clearly. The first is the clinical one — emphasise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Describe both datasets. Tell the story of the two data challenges.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Let the images speak. Point out the circular border, the elongated cells in positive images, the difference between Tushabe and BCCD negative images.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Quick numbers. Class distribution, split, and domain gap note.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Explain HOG visually — show the image. Then explain the pipeline steps briefly.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Describe each classifier briefly. Do not go deep into maths. Explain GridSearchCV as the optimisation tool.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through the SVM numbers. Point out the confusion matrix — 15 errors. Mention the mild overfitting gap.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through RF results. Point out higher sensitivity vs SVM. Acknowledge the larger overfitting gap.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the key slide. Walk through the table. Then point to the comparison chart. Deep learning wins overall. Classical ML remains viable without GPU.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Five clear points. State the novelty first. End with the practical takeaway for Uganda.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Thank you. Pause.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3" name="Shape 0"/>
          <p:cNvSpPr/>
          <p:nvPr/>
        </p:nvSpPr>
        <p:spPr>
          <a:xfrm>
            <a:off x="6583680" y="-914400"/>
            <a:ext cx="4114800" cy="4114800"/>
          </a:xfrm>
          <a:prstGeom prst="ellipse">
            <a:avLst/>
          </a:prstGeom>
          <a:solidFill>
            <a:srgbClr val="1A6B7A">
              <a:alpha val="18000"/>
            </a:srgbClr>
          </a:solidFill>
          <a:ln w="12700">
            <a:solidFill>
              <a:srgbClr val="1A6B7A">
                <a:alpha val="22000"/>
              </a:srgbClr>
            </a:solidFill>
            <a:prstDash val="solid"/>
          </a:ln>
        </p:spPr>
      </p:sp>
      <p:sp>
        <p:nvSpPr>
          <p:cNvPr id="4" name="Text 1"/>
          <p:cNvSpPr/>
          <p:nvPr/>
        </p:nvSpPr>
        <p:spPr>
          <a:xfrm>
            <a:off x="502920" y="384048"/>
            <a:ext cx="7772400" cy="274320"/>
          </a:xfrm>
          <a:prstGeom prst="rect">
            <a:avLst/>
          </a:prstGeom>
          <a:noFill/>
          <a:ln/>
        </p:spPr>
        <p:txBody>
          <a:bodyPr wrap="square" rtlCol="0" anchor="ctr"/>
          <a:lstStyle/>
          <a:p>
            <a:pPr marL="0" indent="0">
              <a:buNone/>
            </a:pPr>
            <a:r>
              <a:rPr lang="en-US" sz="900" b="1" kern="0" spc="300" dirty="0">
                <a:solidFill>
                  <a:srgbClr val="1DB3A4"/>
                </a:solidFill>
                <a:latin typeface="Calibri" pitchFamily="34" charset="0"/>
                <a:ea typeface="Calibri" pitchFamily="34" charset="-122"/>
                <a:cs typeface="Calibri" pitchFamily="34" charset="-120"/>
              </a:rPr>
              <a:t>MSB7215  |  MACHINE LEARNING IN BIOMEDICINE</a:t>
            </a:r>
            <a:endParaRPr lang="en-US" sz="900" dirty="0"/>
          </a:p>
        </p:txBody>
      </p:sp>
      <p:sp>
        <p:nvSpPr>
          <p:cNvPr id="5" name="Text 2"/>
          <p:cNvSpPr/>
          <p:nvPr/>
        </p:nvSpPr>
        <p:spPr>
          <a:xfrm>
            <a:off x="502920" y="804672"/>
            <a:ext cx="8046720" cy="192024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Blood Smear Sickle Cell</a:t>
            </a:r>
            <a:endParaRPr lang="en-US" sz="4600" dirty="0"/>
          </a:p>
          <a:p>
            <a:pPr marL="0" indent="0">
              <a:buNone/>
            </a:pPr>
            <a:r>
              <a:rPr lang="en-US" sz="4600" b="1" dirty="0">
                <a:solidFill>
                  <a:srgbClr val="FFFFFF"/>
                </a:solidFill>
                <a:latin typeface="Calibri" pitchFamily="34" charset="0"/>
                <a:ea typeface="Calibri" pitchFamily="34" charset="-122"/>
                <a:cs typeface="Calibri" pitchFamily="34" charset="-120"/>
              </a:rPr>
              <a:t>Classification</a:t>
            </a:r>
            <a:endParaRPr lang="en-US" sz="4600" dirty="0"/>
          </a:p>
        </p:txBody>
      </p:sp>
      <p:sp>
        <p:nvSpPr>
          <p:cNvPr id="6" name="Text 3"/>
          <p:cNvSpPr/>
          <p:nvPr/>
        </p:nvSpPr>
        <p:spPr>
          <a:xfrm>
            <a:off x="502920" y="2816352"/>
            <a:ext cx="7132320" cy="658368"/>
          </a:xfrm>
          <a:prstGeom prst="rect">
            <a:avLst/>
          </a:prstGeom>
          <a:noFill/>
          <a:ln/>
        </p:spPr>
        <p:txBody>
          <a:bodyPr wrap="square" rtlCol="0" anchor="ctr"/>
          <a:lstStyle/>
          <a:p>
            <a:pPr marL="0" indent="0">
              <a:buNone/>
            </a:pPr>
            <a:r>
              <a:rPr lang="en-US" sz="1500" i="1" dirty="0">
                <a:solidFill>
                  <a:srgbClr val="D4E8EC"/>
                </a:solidFill>
                <a:latin typeface="Calibri" pitchFamily="34" charset="0"/>
                <a:ea typeface="Calibri" pitchFamily="34" charset="-122"/>
                <a:cs typeface="Calibri" pitchFamily="34" charset="-120"/>
              </a:rPr>
              <a:t>Classical Machine Learning with HOG Feature Extraction</a:t>
            </a:r>
            <a:endParaRPr lang="en-US" sz="1500" dirty="0"/>
          </a:p>
          <a:p>
            <a:pPr marL="0" indent="0">
              <a:buNone/>
            </a:pPr>
            <a:r>
              <a:rPr lang="en-US" sz="1500" i="1" dirty="0">
                <a:solidFill>
                  <a:srgbClr val="D4E8EC"/>
                </a:solidFill>
                <a:latin typeface="Calibri" pitchFamily="34" charset="0"/>
                <a:ea typeface="Calibri" pitchFamily="34" charset="-122"/>
                <a:cs typeface="Calibri" pitchFamily="34" charset="-120"/>
              </a:rPr>
              <a:t>Applied to Ugandan Clinical Microscopy Data</a:t>
            </a:r>
            <a:endParaRPr lang="en-US" sz="1500" dirty="0"/>
          </a:p>
        </p:txBody>
      </p:sp>
      <p:sp>
        <p:nvSpPr>
          <p:cNvPr id="7" name="Text 4"/>
          <p:cNvSpPr/>
          <p:nvPr/>
        </p:nvSpPr>
        <p:spPr>
          <a:xfrm>
            <a:off x="502920" y="3657600"/>
            <a:ext cx="8229600" cy="274320"/>
          </a:xfrm>
          <a:prstGeom prst="rect">
            <a:avLst/>
          </a:prstGeom>
          <a:noFill/>
          <a:ln/>
        </p:spPr>
        <p:txBody>
          <a:bodyPr wrap="square" rtlCol="0" anchor="ctr"/>
          <a:lstStyle/>
          <a:p>
            <a:pPr marL="0" indent="0">
              <a:buNone/>
            </a:pPr>
            <a:r>
              <a:rPr lang="en-US" sz="1100" dirty="0">
                <a:solidFill>
                  <a:srgbClr val="7A92A8"/>
                </a:solidFill>
                <a:latin typeface="Calibri" pitchFamily="34" charset="0"/>
                <a:ea typeface="Calibri" pitchFamily="34" charset="-122"/>
                <a:cs typeface="Calibri" pitchFamily="34" charset="-120"/>
              </a:rPr>
              <a:t>Okidi Patrovas Gabriel   |   2025/HD07/26020U   |   Makerere University, Kampala, Uganda</a:t>
            </a:r>
            <a:endParaRPr lang="en-US" sz="1100" dirty="0"/>
          </a:p>
        </p:txBody>
      </p:sp>
      <p:sp>
        <p:nvSpPr>
          <p:cNvPr id="8" name="Text 5"/>
          <p:cNvSpPr/>
          <p:nvPr/>
        </p:nvSpPr>
        <p:spPr>
          <a:xfrm>
            <a:off x="502920" y="4133088"/>
            <a:ext cx="5943600" cy="384048"/>
          </a:xfrm>
          <a:prstGeom prst="rect">
            <a:avLst/>
          </a:prstGeom>
          <a:noFill/>
          <a:ln/>
        </p:spPr>
        <p:txBody>
          <a:bodyPr wrap="square" rtlCol="0" anchor="ctr"/>
          <a:lstStyle/>
          <a:p>
            <a:pPr marL="0" indent="0">
              <a:buNone/>
            </a:pPr>
            <a:r>
              <a:rPr lang="en-US" sz="1100" b="1" dirty="0">
                <a:solidFill>
                  <a:srgbClr val="1DB3A4"/>
                </a:solidFill>
                <a:latin typeface="Calibri" pitchFamily="34" charset="0"/>
                <a:ea typeface="Calibri" pitchFamily="34" charset="-122"/>
                <a:cs typeface="Calibri" pitchFamily="34" charset="-120"/>
              </a:rPr>
              <a:t>github.com/Patro331/blood-smear-sickle-cell-classification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Background</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8138160" cy="822960"/>
          </a:xfrm>
          <a:prstGeom prst="rect">
            <a:avLst/>
          </a:prstGeom>
          <a:noFill/>
          <a:ln/>
        </p:spPr>
        <p:txBody>
          <a:bodyPr wrap="square" rtlCol="0" anchor="t"/>
          <a:lstStyle/>
          <a:p>
            <a:pPr marL="0" indent="0" algn="l">
              <a:spcAft>
                <a:spcPts val="600"/>
              </a:spcAft>
              <a:buNone/>
            </a:pPr>
            <a:r>
              <a:rPr lang="en-US" sz="1400" dirty="0">
                <a:solidFill>
                  <a:srgbClr val="0B1F3A"/>
                </a:solidFill>
                <a:latin typeface="Calibri" pitchFamily="34" charset="0"/>
                <a:ea typeface="Calibri" pitchFamily="34" charset="-122"/>
                <a:cs typeface="Calibri" pitchFamily="34" charset="-120"/>
              </a:rPr>
              <a:t>Sickle cell disease (SCD) is a hereditary blood disorder caused by a mutation in the HBB gene. Under low oxygen conditions, the mutated haemoglobin S causes red blood cells to deform into a rigid, crescent shape — blocking blood vessels and damaging organs over time.</a:t>
            </a:r>
            <a:endParaRPr lang="en-US" sz="1400" dirty="0"/>
          </a:p>
        </p:txBody>
      </p:sp>
      <p:sp>
        <p:nvSpPr>
          <p:cNvPr id="6" name="Text 3"/>
          <p:cNvSpPr/>
          <p:nvPr/>
        </p:nvSpPr>
        <p:spPr>
          <a:xfrm>
            <a:off x="502920" y="1874520"/>
            <a:ext cx="2560320" cy="777240"/>
          </a:xfrm>
          <a:prstGeom prst="rect">
            <a:avLst/>
          </a:prstGeom>
          <a:noFill/>
          <a:ln/>
        </p:spPr>
        <p:txBody>
          <a:bodyPr wrap="square" rtlCol="0" anchor="ctr"/>
          <a:lstStyle/>
          <a:p>
            <a:pPr marL="0" indent="0" algn="ctr">
              <a:buNone/>
            </a:pPr>
            <a:r>
              <a:rPr lang="en-US" sz="4000" b="1" dirty="0">
                <a:solidFill>
                  <a:srgbClr val="1A6B7A"/>
                </a:solidFill>
                <a:latin typeface="Calibri" pitchFamily="34" charset="0"/>
                <a:ea typeface="Calibri" pitchFamily="34" charset="-122"/>
                <a:cs typeface="Calibri" pitchFamily="34" charset="-120"/>
              </a:rPr>
              <a:t>13.3%</a:t>
            </a:r>
            <a:endParaRPr lang="en-US" sz="4000" dirty="0"/>
          </a:p>
        </p:txBody>
      </p:sp>
      <p:sp>
        <p:nvSpPr>
          <p:cNvPr id="7" name="Text 4"/>
          <p:cNvSpPr/>
          <p:nvPr/>
        </p:nvSpPr>
        <p:spPr>
          <a:xfrm>
            <a:off x="502920" y="2670048"/>
            <a:ext cx="2560320" cy="658368"/>
          </a:xfrm>
          <a:prstGeom prst="rect">
            <a:avLst/>
          </a:prstGeom>
          <a:noFill/>
          <a:ln/>
        </p:spPr>
        <p:txBody>
          <a:bodyPr wrap="square" rtlCol="0" anchor="t"/>
          <a:lstStyle/>
          <a:p>
            <a:pPr marL="0" indent="0" algn="ctr">
              <a:spcAft>
                <a:spcPts val="600"/>
              </a:spcAft>
              <a:buNone/>
            </a:pPr>
            <a:r>
              <a:rPr lang="en-US" sz="1300" dirty="0">
                <a:solidFill>
                  <a:srgbClr val="7A92A8"/>
                </a:solidFill>
                <a:latin typeface="Calibri" pitchFamily="34" charset="0"/>
                <a:ea typeface="Calibri" pitchFamily="34" charset="-122"/>
                <a:cs typeface="Calibri" pitchFamily="34" charset="-120"/>
              </a:rPr>
              <a:t>Sickle cell trait</a:t>
            </a:r>
            <a:endParaRPr lang="en-US" sz="1300" dirty="0"/>
          </a:p>
          <a:p>
            <a:pPr marL="0" indent="0" algn="ctr">
              <a:spcAft>
                <a:spcPts val="600"/>
              </a:spcAft>
              <a:buNone/>
            </a:pPr>
            <a:r>
              <a:rPr lang="en-US" sz="1300" dirty="0">
                <a:solidFill>
                  <a:srgbClr val="7A92A8"/>
                </a:solidFill>
                <a:latin typeface="Calibri" pitchFamily="34" charset="0"/>
                <a:ea typeface="Calibri" pitchFamily="34" charset="-122"/>
                <a:cs typeface="Calibri" pitchFamily="34" charset="-120"/>
              </a:rPr>
              <a:t>prevalence nationally</a:t>
            </a:r>
            <a:endParaRPr lang="en-US" sz="1300" dirty="0"/>
          </a:p>
        </p:txBody>
      </p:sp>
      <p:sp>
        <p:nvSpPr>
          <p:cNvPr id="8" name="Text 5"/>
          <p:cNvSpPr/>
          <p:nvPr/>
        </p:nvSpPr>
        <p:spPr>
          <a:xfrm>
            <a:off x="3337560" y="1874520"/>
            <a:ext cx="2560320" cy="777240"/>
          </a:xfrm>
          <a:prstGeom prst="rect">
            <a:avLst/>
          </a:prstGeom>
          <a:noFill/>
          <a:ln/>
        </p:spPr>
        <p:txBody>
          <a:bodyPr wrap="square" rtlCol="0" anchor="ctr"/>
          <a:lstStyle/>
          <a:p>
            <a:pPr marL="0" indent="0" algn="ctr">
              <a:buNone/>
            </a:pPr>
            <a:r>
              <a:rPr lang="en-US" sz="4000" b="1" dirty="0">
                <a:solidFill>
                  <a:srgbClr val="1A6B7A"/>
                </a:solidFill>
                <a:latin typeface="Calibri" pitchFamily="34" charset="0"/>
                <a:ea typeface="Calibri" pitchFamily="34" charset="-122"/>
                <a:cs typeface="Calibri" pitchFamily="34" charset="-120"/>
              </a:rPr>
              <a:t>19.8%</a:t>
            </a:r>
            <a:endParaRPr lang="en-US" sz="4000" dirty="0"/>
          </a:p>
        </p:txBody>
      </p:sp>
      <p:sp>
        <p:nvSpPr>
          <p:cNvPr id="9" name="Text 6"/>
          <p:cNvSpPr/>
          <p:nvPr/>
        </p:nvSpPr>
        <p:spPr>
          <a:xfrm>
            <a:off x="3337560" y="2670048"/>
            <a:ext cx="2560320" cy="658368"/>
          </a:xfrm>
          <a:prstGeom prst="rect">
            <a:avLst/>
          </a:prstGeom>
          <a:noFill/>
          <a:ln/>
        </p:spPr>
        <p:txBody>
          <a:bodyPr wrap="square" rtlCol="0" anchor="t"/>
          <a:lstStyle/>
          <a:p>
            <a:pPr marL="0" indent="0" algn="ctr">
              <a:spcAft>
                <a:spcPts val="600"/>
              </a:spcAft>
              <a:buNone/>
            </a:pPr>
            <a:r>
              <a:rPr lang="en-US" sz="1300" dirty="0">
                <a:solidFill>
                  <a:srgbClr val="7A92A8"/>
                </a:solidFill>
                <a:latin typeface="Calibri" pitchFamily="34" charset="0"/>
                <a:ea typeface="Calibri" pitchFamily="34" charset="-122"/>
                <a:cs typeface="Calibri" pitchFamily="34" charset="-120"/>
              </a:rPr>
              <a:t>Prevalence in</a:t>
            </a:r>
            <a:endParaRPr lang="en-US" sz="1300" dirty="0"/>
          </a:p>
          <a:p>
            <a:pPr marL="0" indent="0" algn="ctr">
              <a:spcAft>
                <a:spcPts val="600"/>
              </a:spcAft>
              <a:buNone/>
            </a:pPr>
            <a:r>
              <a:rPr lang="en-US" sz="1300" dirty="0">
                <a:solidFill>
                  <a:srgbClr val="7A92A8"/>
                </a:solidFill>
                <a:latin typeface="Calibri" pitchFamily="34" charset="0"/>
                <a:ea typeface="Calibri" pitchFamily="34" charset="-122"/>
                <a:cs typeface="Calibri" pitchFamily="34" charset="-120"/>
              </a:rPr>
              <a:t>Kampala alone</a:t>
            </a:r>
            <a:endParaRPr lang="en-US" sz="1300" dirty="0"/>
          </a:p>
        </p:txBody>
      </p:sp>
      <p:sp>
        <p:nvSpPr>
          <p:cNvPr id="10" name="Text 7"/>
          <p:cNvSpPr/>
          <p:nvPr/>
        </p:nvSpPr>
        <p:spPr>
          <a:xfrm>
            <a:off x="6172200" y="1874520"/>
            <a:ext cx="2560320" cy="777240"/>
          </a:xfrm>
          <a:prstGeom prst="rect">
            <a:avLst/>
          </a:prstGeom>
          <a:noFill/>
          <a:ln/>
        </p:spPr>
        <p:txBody>
          <a:bodyPr wrap="square" rtlCol="0" anchor="ctr"/>
          <a:lstStyle/>
          <a:p>
            <a:pPr marL="0" indent="0" algn="ctr">
              <a:buNone/>
            </a:pPr>
            <a:r>
              <a:rPr lang="en-US" sz="4000" b="1" dirty="0">
                <a:solidFill>
                  <a:srgbClr val="1A6B7A"/>
                </a:solidFill>
                <a:latin typeface="Calibri" pitchFamily="34" charset="0"/>
                <a:ea typeface="Calibri" pitchFamily="34" charset="-122"/>
                <a:cs typeface="Calibri" pitchFamily="34" charset="-120"/>
              </a:rPr>
              <a:t>20,000+</a:t>
            </a:r>
            <a:endParaRPr lang="en-US" sz="4000" dirty="0"/>
          </a:p>
        </p:txBody>
      </p:sp>
      <p:sp>
        <p:nvSpPr>
          <p:cNvPr id="11" name="Text 8"/>
          <p:cNvSpPr/>
          <p:nvPr/>
        </p:nvSpPr>
        <p:spPr>
          <a:xfrm>
            <a:off x="6172200" y="2670048"/>
            <a:ext cx="2560320" cy="658368"/>
          </a:xfrm>
          <a:prstGeom prst="rect">
            <a:avLst/>
          </a:prstGeom>
          <a:noFill/>
          <a:ln/>
        </p:spPr>
        <p:txBody>
          <a:bodyPr wrap="square" rtlCol="0" anchor="t"/>
          <a:lstStyle/>
          <a:p>
            <a:pPr marL="0" indent="0" algn="ctr">
              <a:spcAft>
                <a:spcPts val="600"/>
              </a:spcAft>
              <a:buNone/>
            </a:pPr>
            <a:r>
              <a:rPr lang="en-US" sz="1300" dirty="0">
                <a:solidFill>
                  <a:srgbClr val="7A92A8"/>
                </a:solidFill>
                <a:latin typeface="Calibri" pitchFamily="34" charset="0"/>
                <a:ea typeface="Calibri" pitchFamily="34" charset="-122"/>
                <a:cs typeface="Calibri" pitchFamily="34" charset="-120"/>
              </a:rPr>
              <a:t>Children born with</a:t>
            </a:r>
            <a:endParaRPr lang="en-US" sz="1300" dirty="0"/>
          </a:p>
          <a:p>
            <a:pPr marL="0" indent="0" algn="ctr">
              <a:spcAft>
                <a:spcPts val="600"/>
              </a:spcAft>
              <a:buNone/>
            </a:pPr>
            <a:r>
              <a:rPr lang="en-US" sz="1300" dirty="0">
                <a:solidFill>
                  <a:srgbClr val="7A92A8"/>
                </a:solidFill>
                <a:latin typeface="Calibri" pitchFamily="34" charset="0"/>
                <a:ea typeface="Calibri" pitchFamily="34" charset="-122"/>
                <a:cs typeface="Calibri" pitchFamily="34" charset="-120"/>
              </a:rPr>
              <a:t>SCD per year in Uganda</a:t>
            </a:r>
            <a:endParaRPr lang="en-US" sz="1300" dirty="0"/>
          </a:p>
        </p:txBody>
      </p:sp>
      <p:sp>
        <p:nvSpPr>
          <p:cNvPr id="12" name="Text 9"/>
          <p:cNvSpPr/>
          <p:nvPr/>
        </p:nvSpPr>
        <p:spPr>
          <a:xfrm>
            <a:off x="502920" y="3429000"/>
            <a:ext cx="8138160" cy="914400"/>
          </a:xfrm>
          <a:prstGeom prst="rect">
            <a:avLst/>
          </a:prstGeom>
          <a:noFill/>
          <a:ln/>
        </p:spPr>
        <p:txBody>
          <a:bodyPr wrap="square" rtlCol="0" anchor="t"/>
          <a:lstStyle/>
          <a:p>
            <a:pPr marL="0" indent="0" algn="l">
              <a:spcAft>
                <a:spcPts val="600"/>
              </a:spcAft>
              <a:buNone/>
            </a:pPr>
            <a:r>
              <a:rPr lang="en-US" sz="1300" dirty="0">
                <a:solidFill>
                  <a:srgbClr val="444444"/>
                </a:solidFill>
                <a:latin typeface="Calibri" pitchFamily="34" charset="0"/>
                <a:ea typeface="Calibri" pitchFamily="34" charset="-122"/>
                <a:cs typeface="Calibri" pitchFamily="34" charset="-120"/>
              </a:rPr>
              <a:t>Despite this burden, diagnosis depends on haemoglobin electrophoresis and manual microscopic examination — both requiring specialist laboratory infrastructure that is largely absent outside Uganda's major urban hospitals. Children in rural areas frequently go undiagnosed for years, missing early prophylactic treatment that prevents life-threatening crises.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Related Work</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658368" cy="475488"/>
          </a:xfrm>
          <a:prstGeom prst="rect">
            <a:avLst/>
          </a:prstGeom>
          <a:solidFill>
            <a:srgbClr val="2C4A6B"/>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2005</a:t>
            </a:r>
            <a:endParaRPr lang="en-US" sz="1200" dirty="0"/>
          </a:p>
        </p:txBody>
      </p:sp>
      <p:sp>
        <p:nvSpPr>
          <p:cNvPr id="6" name="Text 3"/>
          <p:cNvSpPr/>
          <p:nvPr/>
        </p:nvSpPr>
        <p:spPr>
          <a:xfrm>
            <a:off x="1261872" y="914400"/>
            <a:ext cx="1828800" cy="256032"/>
          </a:xfrm>
          <a:prstGeom prst="rect">
            <a:avLst/>
          </a:prstGeom>
          <a:noFill/>
          <a:ln/>
        </p:spPr>
        <p:txBody>
          <a:bodyPr wrap="square" rtlCol="0" anchor="ctr"/>
          <a:lstStyle/>
          <a:p>
            <a:pPr marL="0" indent="0">
              <a:buNone/>
            </a:pPr>
            <a:r>
              <a:rPr lang="en-US" sz="1200" b="1" dirty="0">
                <a:solidFill>
                  <a:srgbClr val="1A6B7A"/>
                </a:solidFill>
                <a:latin typeface="Calibri" pitchFamily="34" charset="0"/>
                <a:ea typeface="Calibri" pitchFamily="34" charset="-122"/>
                <a:cs typeface="Calibri" pitchFamily="34" charset="-120"/>
              </a:rPr>
              <a:t>Dalal &amp; Triggs</a:t>
            </a:r>
            <a:endParaRPr lang="en-US" sz="1200" dirty="0"/>
          </a:p>
        </p:txBody>
      </p:sp>
      <p:sp>
        <p:nvSpPr>
          <p:cNvPr id="7" name="Text 4"/>
          <p:cNvSpPr/>
          <p:nvPr/>
        </p:nvSpPr>
        <p:spPr>
          <a:xfrm>
            <a:off x="1261872" y="1152144"/>
            <a:ext cx="7360920" cy="420624"/>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Introduced HOG features for shape-based image recognition. Established the foundation for hand-crafted gradient features used in classical computer vision.</a:t>
            </a:r>
            <a:endParaRPr lang="en-US" sz="1200" dirty="0"/>
          </a:p>
        </p:txBody>
      </p:sp>
      <p:sp>
        <p:nvSpPr>
          <p:cNvPr id="8" name="Text 5"/>
          <p:cNvSpPr/>
          <p:nvPr/>
        </p:nvSpPr>
        <p:spPr>
          <a:xfrm>
            <a:off x="502920" y="1682496"/>
            <a:ext cx="658368" cy="475488"/>
          </a:xfrm>
          <a:prstGeom prst="rect">
            <a:avLst/>
          </a:prstGeom>
          <a:solidFill>
            <a:srgbClr val="2C4A6B"/>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2017</a:t>
            </a:r>
            <a:endParaRPr lang="en-US" sz="1200" dirty="0"/>
          </a:p>
        </p:txBody>
      </p:sp>
      <p:sp>
        <p:nvSpPr>
          <p:cNvPr id="9" name="Text 6"/>
          <p:cNvSpPr/>
          <p:nvPr/>
        </p:nvSpPr>
        <p:spPr>
          <a:xfrm>
            <a:off x="1261872" y="1700784"/>
            <a:ext cx="1828800" cy="256032"/>
          </a:xfrm>
          <a:prstGeom prst="rect">
            <a:avLst/>
          </a:prstGeom>
          <a:noFill/>
          <a:ln/>
        </p:spPr>
        <p:txBody>
          <a:bodyPr wrap="square" rtlCol="0" anchor="ctr"/>
          <a:lstStyle/>
          <a:p>
            <a:pPr marL="0" indent="0">
              <a:buNone/>
            </a:pPr>
            <a:r>
              <a:rPr lang="en-US" sz="1200" b="1" dirty="0">
                <a:solidFill>
                  <a:srgbClr val="1A6B7A"/>
                </a:solidFill>
                <a:latin typeface="Calibri" pitchFamily="34" charset="0"/>
                <a:ea typeface="Calibri" pitchFamily="34" charset="-122"/>
                <a:cs typeface="Calibri" pitchFamily="34" charset="-120"/>
              </a:rPr>
              <a:t>Esteva et al.</a:t>
            </a:r>
            <a:endParaRPr lang="en-US" sz="1200" dirty="0"/>
          </a:p>
        </p:txBody>
      </p:sp>
      <p:sp>
        <p:nvSpPr>
          <p:cNvPr id="10" name="Text 7"/>
          <p:cNvSpPr/>
          <p:nvPr/>
        </p:nvSpPr>
        <p:spPr>
          <a:xfrm>
            <a:off x="1261872" y="1938528"/>
            <a:ext cx="7360920" cy="420624"/>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Demonstrated deep learning achieving dermatologist-level accuracy for skin cancer classification — a landmark study establishing DL viability in medical imaging.</a:t>
            </a:r>
            <a:endParaRPr lang="en-US" sz="1200" dirty="0"/>
          </a:p>
        </p:txBody>
      </p:sp>
      <p:sp>
        <p:nvSpPr>
          <p:cNvPr id="11" name="Text 8"/>
          <p:cNvSpPr/>
          <p:nvPr/>
        </p:nvSpPr>
        <p:spPr>
          <a:xfrm>
            <a:off x="502920" y="2468880"/>
            <a:ext cx="658368" cy="475488"/>
          </a:xfrm>
          <a:prstGeom prst="rect">
            <a:avLst/>
          </a:prstGeom>
          <a:solidFill>
            <a:srgbClr val="2C4A6B"/>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2018</a:t>
            </a:r>
            <a:endParaRPr lang="en-US" sz="1200" dirty="0"/>
          </a:p>
        </p:txBody>
      </p:sp>
      <p:sp>
        <p:nvSpPr>
          <p:cNvPr id="12" name="Text 9"/>
          <p:cNvSpPr/>
          <p:nvPr/>
        </p:nvSpPr>
        <p:spPr>
          <a:xfrm>
            <a:off x="1261872" y="2487168"/>
            <a:ext cx="1828800" cy="256032"/>
          </a:xfrm>
          <a:prstGeom prst="rect">
            <a:avLst/>
          </a:prstGeom>
          <a:noFill/>
          <a:ln/>
        </p:spPr>
        <p:txBody>
          <a:bodyPr wrap="square" rtlCol="0" anchor="ctr"/>
          <a:lstStyle/>
          <a:p>
            <a:pPr marL="0" indent="0">
              <a:buNone/>
            </a:pPr>
            <a:r>
              <a:rPr lang="en-US" sz="1200" b="1" dirty="0">
                <a:solidFill>
                  <a:srgbClr val="1A6B7A"/>
                </a:solidFill>
                <a:latin typeface="Calibri" pitchFamily="34" charset="0"/>
                <a:ea typeface="Calibri" pitchFamily="34" charset="-122"/>
                <a:cs typeface="Calibri" pitchFamily="34" charset="-120"/>
              </a:rPr>
              <a:t>Poostchi et al.</a:t>
            </a:r>
            <a:endParaRPr lang="en-US" sz="1200" dirty="0"/>
          </a:p>
        </p:txBody>
      </p:sp>
      <p:sp>
        <p:nvSpPr>
          <p:cNvPr id="13" name="Text 10"/>
          <p:cNvSpPr/>
          <p:nvPr/>
        </p:nvSpPr>
        <p:spPr>
          <a:xfrm>
            <a:off x="1261872" y="2724912"/>
            <a:ext cx="7360920" cy="420624"/>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Reviewed machine learning approaches for malaria parasite detection in blood smears and validated mobile-phone microscopy as a feasible imaging platform for automated analysis.</a:t>
            </a:r>
            <a:endParaRPr lang="en-US" sz="1200" dirty="0"/>
          </a:p>
        </p:txBody>
      </p:sp>
      <p:sp>
        <p:nvSpPr>
          <p:cNvPr id="14" name="Text 11"/>
          <p:cNvSpPr/>
          <p:nvPr/>
        </p:nvSpPr>
        <p:spPr>
          <a:xfrm>
            <a:off x="502920" y="3255264"/>
            <a:ext cx="658368" cy="475488"/>
          </a:xfrm>
          <a:prstGeom prst="rect">
            <a:avLst/>
          </a:prstGeom>
          <a:solidFill>
            <a:srgbClr val="2C4A6B"/>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2020</a:t>
            </a:r>
            <a:endParaRPr lang="en-US" sz="1200" dirty="0"/>
          </a:p>
        </p:txBody>
      </p:sp>
      <p:sp>
        <p:nvSpPr>
          <p:cNvPr id="15" name="Text 12"/>
          <p:cNvSpPr/>
          <p:nvPr/>
        </p:nvSpPr>
        <p:spPr>
          <a:xfrm>
            <a:off x="1261872" y="3273552"/>
            <a:ext cx="1828800" cy="256032"/>
          </a:xfrm>
          <a:prstGeom prst="rect">
            <a:avLst/>
          </a:prstGeom>
          <a:noFill/>
          <a:ln/>
        </p:spPr>
        <p:txBody>
          <a:bodyPr wrap="square" rtlCol="0" anchor="ctr"/>
          <a:lstStyle/>
          <a:p>
            <a:pPr marL="0" indent="0">
              <a:buNone/>
            </a:pPr>
            <a:r>
              <a:rPr lang="en-US" sz="1200" b="1" dirty="0">
                <a:solidFill>
                  <a:srgbClr val="1A6B7A"/>
                </a:solidFill>
                <a:latin typeface="Calibri" pitchFamily="34" charset="0"/>
                <a:ea typeface="Calibri" pitchFamily="34" charset="-122"/>
                <a:cs typeface="Calibri" pitchFamily="34" charset="-120"/>
              </a:rPr>
              <a:t>Acevedo et al.</a:t>
            </a:r>
            <a:endParaRPr lang="en-US" sz="1200" dirty="0"/>
          </a:p>
        </p:txBody>
      </p:sp>
      <p:sp>
        <p:nvSpPr>
          <p:cNvPr id="16" name="Text 13"/>
          <p:cNvSpPr/>
          <p:nvPr/>
        </p:nvSpPr>
        <p:spPr>
          <a:xfrm>
            <a:off x="1261872" y="3511296"/>
            <a:ext cx="7360920" cy="420624"/>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Published a benchmark dataset of 17,092 annotated peripheral blood cell images and demonstrated automated classification across eight cell types using deep learning.</a:t>
            </a:r>
            <a:endParaRPr lang="en-US" sz="1200" dirty="0"/>
          </a:p>
        </p:txBody>
      </p:sp>
      <p:sp>
        <p:nvSpPr>
          <p:cNvPr id="17" name="Text 14"/>
          <p:cNvSpPr/>
          <p:nvPr/>
        </p:nvSpPr>
        <p:spPr>
          <a:xfrm>
            <a:off x="502920" y="4041648"/>
            <a:ext cx="658368" cy="475488"/>
          </a:xfrm>
          <a:prstGeom prst="rect">
            <a:avLst/>
          </a:prstGeom>
          <a:solidFill>
            <a:srgbClr val="1A6B7A"/>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2026</a:t>
            </a:r>
            <a:endParaRPr lang="en-US" sz="1200" dirty="0"/>
          </a:p>
        </p:txBody>
      </p:sp>
      <p:sp>
        <p:nvSpPr>
          <p:cNvPr id="18" name="Text 15"/>
          <p:cNvSpPr/>
          <p:nvPr/>
        </p:nvSpPr>
        <p:spPr>
          <a:xfrm>
            <a:off x="1261872" y="4059936"/>
            <a:ext cx="1828800" cy="256032"/>
          </a:xfrm>
          <a:prstGeom prst="rect">
            <a:avLst/>
          </a:prstGeom>
          <a:noFill/>
          <a:ln/>
        </p:spPr>
        <p:txBody>
          <a:bodyPr wrap="square" rtlCol="0" anchor="ctr"/>
          <a:lstStyle/>
          <a:p>
            <a:pPr marL="0" indent="0">
              <a:buNone/>
            </a:pPr>
            <a:r>
              <a:rPr lang="en-US" sz="1200" b="1" dirty="0">
                <a:solidFill>
                  <a:srgbClr val="1A6B7A"/>
                </a:solidFill>
                <a:latin typeface="Calibri" pitchFamily="34" charset="0"/>
                <a:ea typeface="Calibri" pitchFamily="34" charset="-122"/>
                <a:cs typeface="Calibri" pitchFamily="34" charset="-120"/>
              </a:rPr>
              <a:t>Okidi Patrovas Gabriel</a:t>
            </a:r>
            <a:endParaRPr lang="en-US" sz="1200" dirty="0"/>
          </a:p>
        </p:txBody>
      </p:sp>
      <p:sp>
        <p:nvSpPr>
          <p:cNvPr id="19" name="Text 16"/>
          <p:cNvSpPr/>
          <p:nvPr/>
        </p:nvSpPr>
        <p:spPr>
          <a:xfrm>
            <a:off x="1261872" y="4297680"/>
            <a:ext cx="7360920" cy="420624"/>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Applied deep learning (ResNet-50, EfficientNet-B0) to the Tushabe (2024) Ugandan clinical dataset to detect  sickle cell disease from blood smear images taken using phone </a:t>
            </a:r>
            <a:r>
              <a:rPr lang="en-US" sz="1200" dirty="0" err="1">
                <a:solidFill>
                  <a:srgbClr val="444444"/>
                </a:solidFill>
                <a:latin typeface="Calibri" pitchFamily="34" charset="0"/>
                <a:ea typeface="Calibri" pitchFamily="34" charset="-122"/>
                <a:cs typeface="Calibri" pitchFamily="34" charset="-120"/>
              </a:rPr>
              <a:t>miscroscope</a:t>
            </a:r>
            <a:r>
              <a:rPr lang="en-US" sz="1200" dirty="0">
                <a:solidFill>
                  <a:srgbClr val="444444"/>
                </a:solidFill>
                <a:latin typeface="Calibri" pitchFamily="34" charset="0"/>
                <a:ea typeface="Calibri" pitchFamily="34" charset="-122"/>
                <a:cs typeface="Calibri" pitchFamily="34" charset="-120"/>
              </a:rPr>
              <a:t> , achieving 98.57% accuracy — the first deep learning study on this dataset.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A"/>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Problem Statement</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914400" y="1280160"/>
            <a:ext cx="7315200" cy="2926080"/>
          </a:xfrm>
          <a:prstGeom prst="rect">
            <a:avLst/>
          </a:prstGeom>
          <a:noFill/>
          <a:ln/>
        </p:spPr>
        <p:txBody>
          <a:bodyPr wrap="square" rtlCol="0" anchor="ctr"/>
          <a:lstStyle/>
          <a:p>
            <a:pPr marL="0" indent="0" algn="ctr">
              <a:spcAft>
                <a:spcPts val="1000"/>
              </a:spcAft>
              <a:buNone/>
            </a:pPr>
            <a:r>
              <a:rPr lang="en-US" sz="1800" dirty="0">
                <a:solidFill>
                  <a:srgbClr val="0B1F3A"/>
                </a:solidFill>
                <a:latin typeface="Calibri" pitchFamily="34" charset="0"/>
                <a:ea typeface="Calibri" pitchFamily="34" charset="-122"/>
                <a:cs typeface="Calibri" pitchFamily="34" charset="-120"/>
              </a:rPr>
              <a:t>Sickle cell disease remains largely undiagnosed in rural Uganda because current diagnostic methods require trained laboratory personnel and specialist equipment that most district health facilities do not have. Community health workers lack the tools to identify affected patients at the point of care, delaying treatment and contributing to preventable morbidity and mortality among children who could otherwise be managed effectively with early intervention.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Research Gap</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960120"/>
            <a:ext cx="365760" cy="566928"/>
          </a:xfrm>
          <a:prstGeom prst="rect">
            <a:avLst/>
          </a:prstGeom>
          <a:noFill/>
          <a:ln/>
        </p:spPr>
        <p:txBody>
          <a:bodyPr wrap="square" rtlCol="0" anchor="ctr"/>
          <a:lstStyle/>
          <a:p>
            <a:pPr marL="0" indent="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6" name="Text 3"/>
          <p:cNvSpPr/>
          <p:nvPr/>
        </p:nvSpPr>
        <p:spPr>
          <a:xfrm>
            <a:off x="960120" y="960120"/>
            <a:ext cx="7772400" cy="658368"/>
          </a:xfrm>
          <a:prstGeom prst="rect">
            <a:avLst/>
          </a:prstGeom>
          <a:noFill/>
          <a:ln/>
        </p:spPr>
        <p:txBody>
          <a:bodyPr wrap="square" rtlCol="0" anchor="ctr"/>
          <a:lstStyle/>
          <a:p>
            <a:pPr marL="0" indent="0">
              <a:spcAft>
                <a:spcPts val="400"/>
              </a:spcAft>
              <a:buNone/>
            </a:pPr>
            <a:r>
              <a:rPr lang="en-US" sz="1300" dirty="0">
                <a:solidFill>
                  <a:srgbClr val="0B1F3A"/>
                </a:solidFill>
                <a:latin typeface="Calibri" pitchFamily="34" charset="0"/>
                <a:ea typeface="Calibri" pitchFamily="34" charset="-122"/>
                <a:cs typeface="Calibri" pitchFamily="34" charset="-120"/>
              </a:rPr>
              <a:t>All prior sickle cell detection studies used datasets collected under controlled laboratory conditions in high-income countries — none used mobile-phone microscopy from real Ugandan clinical settings.</a:t>
            </a:r>
            <a:endParaRPr lang="en-US" sz="1300" dirty="0"/>
          </a:p>
        </p:txBody>
      </p:sp>
      <p:sp>
        <p:nvSpPr>
          <p:cNvPr id="7" name="Text 4"/>
          <p:cNvSpPr/>
          <p:nvPr/>
        </p:nvSpPr>
        <p:spPr>
          <a:xfrm>
            <a:off x="502920" y="1874520"/>
            <a:ext cx="365760" cy="566928"/>
          </a:xfrm>
          <a:prstGeom prst="rect">
            <a:avLst/>
          </a:prstGeom>
          <a:noFill/>
          <a:ln/>
        </p:spPr>
        <p:txBody>
          <a:bodyPr wrap="square" rtlCol="0" anchor="ctr"/>
          <a:lstStyle/>
          <a:p>
            <a:pPr marL="0" indent="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8" name="Text 5"/>
          <p:cNvSpPr/>
          <p:nvPr/>
        </p:nvSpPr>
        <p:spPr>
          <a:xfrm>
            <a:off x="960120" y="1874520"/>
            <a:ext cx="7772400" cy="658368"/>
          </a:xfrm>
          <a:prstGeom prst="rect">
            <a:avLst/>
          </a:prstGeom>
          <a:noFill/>
          <a:ln/>
        </p:spPr>
        <p:txBody>
          <a:bodyPr wrap="square" rtlCol="0" anchor="ctr"/>
          <a:lstStyle/>
          <a:p>
            <a:pPr marL="0" indent="0">
              <a:spcAft>
                <a:spcPts val="400"/>
              </a:spcAft>
              <a:buNone/>
            </a:pPr>
            <a:r>
              <a:rPr lang="en-US" sz="1300" dirty="0">
                <a:solidFill>
                  <a:srgbClr val="0B1F3A"/>
                </a:solidFill>
                <a:latin typeface="Calibri" pitchFamily="34" charset="0"/>
                <a:ea typeface="Calibri" pitchFamily="34" charset="-122"/>
                <a:cs typeface="Calibri" pitchFamily="34" charset="-120"/>
              </a:rPr>
              <a:t>No classical machine learning study had been applied to the Tushabe et al. (2024) dataset — the only published blood smear dataset collected from Ugandan patients.</a:t>
            </a:r>
            <a:endParaRPr lang="en-US" sz="1300" dirty="0"/>
          </a:p>
        </p:txBody>
      </p:sp>
      <p:sp>
        <p:nvSpPr>
          <p:cNvPr id="9" name="Text 6"/>
          <p:cNvSpPr/>
          <p:nvPr/>
        </p:nvSpPr>
        <p:spPr>
          <a:xfrm>
            <a:off x="502920" y="2788920"/>
            <a:ext cx="365760" cy="566928"/>
          </a:xfrm>
          <a:prstGeom prst="rect">
            <a:avLst/>
          </a:prstGeom>
          <a:noFill/>
          <a:ln/>
        </p:spPr>
        <p:txBody>
          <a:bodyPr wrap="square" rtlCol="0" anchor="ctr"/>
          <a:lstStyle/>
          <a:p>
            <a:pPr marL="0" indent="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10" name="Text 7"/>
          <p:cNvSpPr/>
          <p:nvPr/>
        </p:nvSpPr>
        <p:spPr>
          <a:xfrm>
            <a:off x="960120" y="2788920"/>
            <a:ext cx="7772400" cy="658368"/>
          </a:xfrm>
          <a:prstGeom prst="rect">
            <a:avLst/>
          </a:prstGeom>
          <a:noFill/>
          <a:ln/>
        </p:spPr>
        <p:txBody>
          <a:bodyPr wrap="square" rtlCol="0" anchor="ctr"/>
          <a:lstStyle/>
          <a:p>
            <a:pPr marL="0" indent="0">
              <a:spcAft>
                <a:spcPts val="400"/>
              </a:spcAft>
              <a:buNone/>
            </a:pPr>
            <a:r>
              <a:rPr lang="en-US" sz="1300" dirty="0">
                <a:solidFill>
                  <a:srgbClr val="0B1F3A"/>
                </a:solidFill>
                <a:latin typeface="Calibri" pitchFamily="34" charset="0"/>
                <a:ea typeface="Calibri" pitchFamily="34" charset="-122"/>
                <a:cs typeface="Calibri" pitchFamily="34" charset="-120"/>
              </a:rPr>
              <a:t>It remains unknown whether classical ML, which requires no GPU infrastructure, can produce clinically useful results on this task — a critical question for deployment in resource-limited Ugandan health facilities.</a:t>
            </a:r>
            <a:endParaRPr lang="en-US" sz="1300" dirty="0"/>
          </a:p>
        </p:txBody>
      </p:sp>
      <p:sp>
        <p:nvSpPr>
          <p:cNvPr id="11" name="Text 8"/>
          <p:cNvSpPr/>
          <p:nvPr/>
        </p:nvSpPr>
        <p:spPr>
          <a:xfrm>
            <a:off x="502920" y="3703320"/>
            <a:ext cx="365760" cy="566928"/>
          </a:xfrm>
          <a:prstGeom prst="rect">
            <a:avLst/>
          </a:prstGeom>
          <a:noFill/>
          <a:ln/>
        </p:spPr>
        <p:txBody>
          <a:bodyPr wrap="square" rtlCol="0" anchor="ctr"/>
          <a:lstStyle/>
          <a:p>
            <a:pPr marL="0" indent="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12" name="Text 9"/>
          <p:cNvSpPr/>
          <p:nvPr/>
        </p:nvSpPr>
        <p:spPr>
          <a:xfrm>
            <a:off x="960120" y="3703320"/>
            <a:ext cx="7772400" cy="658368"/>
          </a:xfrm>
          <a:prstGeom prst="rect">
            <a:avLst/>
          </a:prstGeom>
          <a:noFill/>
          <a:ln/>
        </p:spPr>
        <p:txBody>
          <a:bodyPr wrap="square" rtlCol="0" anchor="ctr"/>
          <a:lstStyle/>
          <a:p>
            <a:pPr marL="0" indent="0">
              <a:spcAft>
                <a:spcPts val="400"/>
              </a:spcAft>
              <a:buNone/>
            </a:pPr>
            <a:r>
              <a:rPr lang="en-US" sz="1300" dirty="0">
                <a:solidFill>
                  <a:srgbClr val="0B1F3A"/>
                </a:solidFill>
                <a:latin typeface="Calibri" pitchFamily="34" charset="0"/>
                <a:ea typeface="Calibri" pitchFamily="34" charset="-122"/>
                <a:cs typeface="Calibri" pitchFamily="34" charset="-120"/>
              </a:rPr>
              <a:t>No study had directly compared classical ML and deep learning performance on the same Ugandan clinical microscopy dataset.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Research Objectives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8138160" cy="274320"/>
          </a:xfrm>
          <a:prstGeom prst="rect">
            <a:avLst/>
          </a:prstGeom>
          <a:noFill/>
          <a:ln/>
        </p:spPr>
        <p:txBody>
          <a:bodyPr wrap="square" rtlCol="0" anchor="ctr"/>
          <a:lstStyle/>
          <a:p>
            <a:pPr marL="0" indent="0">
              <a:buNone/>
            </a:pPr>
            <a:r>
              <a:rPr lang="en-US" sz="1300" b="1" dirty="0">
                <a:solidFill>
                  <a:srgbClr val="1A6B7A"/>
                </a:solidFill>
                <a:latin typeface="Calibri" pitchFamily="34" charset="0"/>
                <a:ea typeface="Calibri" pitchFamily="34" charset="-122"/>
                <a:cs typeface="Calibri" pitchFamily="34" charset="-120"/>
              </a:rPr>
              <a:t>Main Objective</a:t>
            </a:r>
            <a:endParaRPr lang="en-US" sz="1300" dirty="0"/>
          </a:p>
        </p:txBody>
      </p:sp>
      <p:sp>
        <p:nvSpPr>
          <p:cNvPr id="6" name="Text 3"/>
          <p:cNvSpPr/>
          <p:nvPr/>
        </p:nvSpPr>
        <p:spPr>
          <a:xfrm>
            <a:off x="502920" y="1188720"/>
            <a:ext cx="8138160" cy="658368"/>
          </a:xfrm>
          <a:prstGeom prst="rect">
            <a:avLst/>
          </a:prstGeom>
          <a:noFill/>
          <a:ln/>
        </p:spPr>
        <p:txBody>
          <a:bodyPr wrap="square" rtlCol="0" anchor="ctr"/>
          <a:lstStyle/>
          <a:p>
            <a:pPr marL="0" indent="0">
              <a:buNone/>
            </a:pPr>
            <a:r>
              <a:rPr lang="en-US" sz="1300" dirty="0">
                <a:solidFill>
                  <a:srgbClr val="0B1F3A"/>
                </a:solidFill>
                <a:latin typeface="Calibri" pitchFamily="34" charset="0"/>
                <a:ea typeface="Calibri" pitchFamily="34" charset="-122"/>
                <a:cs typeface="Calibri" pitchFamily="34" charset="-120"/>
              </a:rPr>
              <a:t>To develop an automated sickle cell detection system from peripheral blood smear images captured using mobile phone cameras on basic microscopes, enabling non-specialist health workers in rural Ugandan settings to screen patients without laboratory expertise.</a:t>
            </a:r>
            <a:endParaRPr lang="en-US" sz="1300" dirty="0"/>
          </a:p>
        </p:txBody>
      </p:sp>
      <p:sp>
        <p:nvSpPr>
          <p:cNvPr id="7" name="Text 4"/>
          <p:cNvSpPr/>
          <p:nvPr/>
        </p:nvSpPr>
        <p:spPr>
          <a:xfrm>
            <a:off x="502920" y="1965960"/>
            <a:ext cx="8138160" cy="274320"/>
          </a:xfrm>
          <a:prstGeom prst="rect">
            <a:avLst/>
          </a:prstGeom>
          <a:noFill/>
          <a:ln/>
        </p:spPr>
        <p:txBody>
          <a:bodyPr wrap="square" rtlCol="0" anchor="ctr"/>
          <a:lstStyle/>
          <a:p>
            <a:pPr marL="0" indent="0">
              <a:buNone/>
            </a:pPr>
            <a:r>
              <a:rPr lang="en-US" sz="1300" b="1" dirty="0">
                <a:solidFill>
                  <a:srgbClr val="1A6B7A"/>
                </a:solidFill>
                <a:latin typeface="Calibri" pitchFamily="34" charset="0"/>
                <a:ea typeface="Calibri" pitchFamily="34" charset="-122"/>
                <a:cs typeface="Calibri" pitchFamily="34" charset="-120"/>
              </a:rPr>
              <a:t>Specific Objectives</a:t>
            </a:r>
            <a:endParaRPr lang="en-US" sz="1300" dirty="0"/>
          </a:p>
        </p:txBody>
      </p:sp>
      <p:sp>
        <p:nvSpPr>
          <p:cNvPr id="8" name="Text 5"/>
          <p:cNvSpPr/>
          <p:nvPr/>
        </p:nvSpPr>
        <p:spPr>
          <a:xfrm>
            <a:off x="502920" y="2331720"/>
            <a:ext cx="320040" cy="402336"/>
          </a:xfrm>
          <a:prstGeom prst="rect">
            <a:avLst/>
          </a:prstGeom>
          <a:noFill/>
          <a:ln/>
        </p:spPr>
        <p:txBody>
          <a:bodyPr wrap="square" rtlCol="0" anchor="ctr"/>
          <a:lstStyle/>
          <a:p>
            <a:pPr marL="0" indent="0">
              <a:buNone/>
            </a:pPr>
            <a:r>
              <a:rPr lang="en-US" sz="1300" b="1" dirty="0">
                <a:solidFill>
                  <a:srgbClr val="1DB3A4"/>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868680" y="2331720"/>
            <a:ext cx="7818120" cy="402336"/>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Extract numerical features from blood smear images using HOG feature extraction to create a tabular features matrix suitable for classical ML</a:t>
            </a:r>
            <a:endParaRPr lang="en-US" sz="1250" dirty="0"/>
          </a:p>
        </p:txBody>
      </p:sp>
      <p:sp>
        <p:nvSpPr>
          <p:cNvPr id="10" name="Text 7"/>
          <p:cNvSpPr/>
          <p:nvPr/>
        </p:nvSpPr>
        <p:spPr>
          <a:xfrm>
            <a:off x="502920" y="2834640"/>
            <a:ext cx="320040" cy="402336"/>
          </a:xfrm>
          <a:prstGeom prst="rect">
            <a:avLst/>
          </a:prstGeom>
          <a:noFill/>
          <a:ln/>
        </p:spPr>
        <p:txBody>
          <a:bodyPr wrap="square" rtlCol="0" anchor="ctr"/>
          <a:lstStyle/>
          <a:p>
            <a:pPr marL="0" indent="0">
              <a:buNone/>
            </a:pPr>
            <a:r>
              <a:rPr lang="en-US" sz="1300" b="1" dirty="0">
                <a:solidFill>
                  <a:srgbClr val="1DB3A4"/>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868680" y="2834640"/>
            <a:ext cx="7818120" cy="402336"/>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Train and evaluate SVM and Random Forest classifiers following standard supervised learning practice including preprocessing pipelines and cross-validation</a:t>
            </a:r>
            <a:endParaRPr lang="en-US" sz="1250" dirty="0"/>
          </a:p>
        </p:txBody>
      </p:sp>
      <p:sp>
        <p:nvSpPr>
          <p:cNvPr id="12" name="Text 9"/>
          <p:cNvSpPr/>
          <p:nvPr/>
        </p:nvSpPr>
        <p:spPr>
          <a:xfrm>
            <a:off x="502920" y="3337560"/>
            <a:ext cx="320040" cy="402336"/>
          </a:xfrm>
          <a:prstGeom prst="rect">
            <a:avLst/>
          </a:prstGeom>
          <a:noFill/>
          <a:ln/>
        </p:spPr>
        <p:txBody>
          <a:bodyPr wrap="square" rtlCol="0" anchor="ctr"/>
          <a:lstStyle/>
          <a:p>
            <a:pPr marL="0" indent="0">
              <a:buNone/>
            </a:pPr>
            <a:r>
              <a:rPr lang="en-US" sz="1300" b="1" dirty="0">
                <a:solidFill>
                  <a:srgbClr val="1DB3A4"/>
                </a:solidFill>
                <a:latin typeface="Calibri" pitchFamily="34" charset="0"/>
                <a:ea typeface="Calibri" pitchFamily="34" charset="-122"/>
                <a:cs typeface="Calibri" pitchFamily="34" charset="-120"/>
              </a:rPr>
              <a:t>3.</a:t>
            </a:r>
            <a:endParaRPr lang="en-US" sz="1300" dirty="0"/>
          </a:p>
        </p:txBody>
      </p:sp>
      <p:sp>
        <p:nvSpPr>
          <p:cNvPr id="13" name="Text 10"/>
          <p:cNvSpPr/>
          <p:nvPr/>
        </p:nvSpPr>
        <p:spPr>
          <a:xfrm>
            <a:off x="868680" y="3337560"/>
            <a:ext cx="7818120" cy="402336"/>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Optimise both models using GridSearchCV and analyse overfitting through training versus test accuracy comparison</a:t>
            </a:r>
            <a:endParaRPr lang="en-US" sz="1250" dirty="0"/>
          </a:p>
        </p:txBody>
      </p:sp>
      <p:sp>
        <p:nvSpPr>
          <p:cNvPr id="14" name="Text 11"/>
          <p:cNvSpPr/>
          <p:nvPr/>
        </p:nvSpPr>
        <p:spPr>
          <a:xfrm>
            <a:off x="502920" y="3840480"/>
            <a:ext cx="320040" cy="402336"/>
          </a:xfrm>
          <a:prstGeom prst="rect">
            <a:avLst/>
          </a:prstGeom>
          <a:noFill/>
          <a:ln/>
        </p:spPr>
        <p:txBody>
          <a:bodyPr wrap="square" rtlCol="0" anchor="ctr"/>
          <a:lstStyle/>
          <a:p>
            <a:pPr marL="0" indent="0">
              <a:buNone/>
            </a:pPr>
            <a:r>
              <a:rPr lang="en-US" sz="1300" b="1" dirty="0">
                <a:solidFill>
                  <a:srgbClr val="1DB3A4"/>
                </a:solidFill>
                <a:latin typeface="Calibri" pitchFamily="34" charset="0"/>
                <a:ea typeface="Calibri" pitchFamily="34" charset="-122"/>
                <a:cs typeface="Calibri" pitchFamily="34" charset="-120"/>
              </a:rPr>
              <a:t>4.</a:t>
            </a:r>
            <a:endParaRPr lang="en-US" sz="1300" dirty="0"/>
          </a:p>
        </p:txBody>
      </p:sp>
      <p:sp>
        <p:nvSpPr>
          <p:cNvPr id="15" name="Text 12"/>
          <p:cNvSpPr/>
          <p:nvPr/>
        </p:nvSpPr>
        <p:spPr>
          <a:xfrm>
            <a:off x="868680" y="3840480"/>
            <a:ext cx="7818120" cy="402336"/>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Compare classical ML performance against deep learning models from a prior study on the same dataset</a:t>
            </a:r>
            <a:endParaRPr lang="en-US" sz="1250" dirty="0"/>
          </a:p>
        </p:txBody>
      </p:sp>
      <p:sp>
        <p:nvSpPr>
          <p:cNvPr id="16" name="Text 13"/>
          <p:cNvSpPr/>
          <p:nvPr/>
        </p:nvSpPr>
        <p:spPr>
          <a:xfrm>
            <a:off x="502920" y="4343400"/>
            <a:ext cx="320040" cy="402336"/>
          </a:xfrm>
          <a:prstGeom prst="rect">
            <a:avLst/>
          </a:prstGeom>
          <a:noFill/>
          <a:ln/>
        </p:spPr>
        <p:txBody>
          <a:bodyPr wrap="square" rtlCol="0" anchor="ctr"/>
          <a:lstStyle/>
          <a:p>
            <a:pPr marL="0" indent="0">
              <a:buNone/>
            </a:pPr>
            <a:r>
              <a:rPr lang="en-US" sz="1300" b="1" dirty="0">
                <a:solidFill>
                  <a:srgbClr val="1DB3A4"/>
                </a:solidFill>
                <a:latin typeface="Calibri" pitchFamily="34" charset="0"/>
                <a:ea typeface="Calibri" pitchFamily="34" charset="-122"/>
                <a:cs typeface="Calibri" pitchFamily="34" charset="-120"/>
              </a:rPr>
              <a:t>5.</a:t>
            </a:r>
            <a:endParaRPr lang="en-US" sz="1300" dirty="0"/>
          </a:p>
        </p:txBody>
      </p:sp>
      <p:sp>
        <p:nvSpPr>
          <p:cNvPr id="17" name="Text 14"/>
          <p:cNvSpPr/>
          <p:nvPr/>
        </p:nvSpPr>
        <p:spPr>
          <a:xfrm>
            <a:off x="868680" y="4343400"/>
            <a:ext cx="7818120" cy="402336"/>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Assess the viability of classical ML as a low-resource alternative to deep learning for sickle cell screening in Uganda</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Dataset</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8229600" cy="292608"/>
          </a:xfrm>
          <a:prstGeom prst="rect">
            <a:avLst/>
          </a:prstGeom>
          <a:noFill/>
          <a:ln/>
        </p:spPr>
        <p:txBody>
          <a:bodyPr wrap="square" rtlCol="0" anchor="ctr"/>
          <a:lstStyle/>
          <a:p>
            <a:pPr marL="0" indent="0">
              <a:buNone/>
            </a:pPr>
            <a:r>
              <a:rPr lang="en-US" sz="1400" b="1" dirty="0">
                <a:solidFill>
                  <a:srgbClr val="1A6B7A"/>
                </a:solidFill>
                <a:latin typeface="Calibri" pitchFamily="34" charset="0"/>
                <a:ea typeface="Calibri" pitchFamily="34" charset="-122"/>
                <a:cs typeface="Calibri" pitchFamily="34" charset="-120"/>
              </a:rPr>
              <a:t>Primary Dataset — Positive Class</a:t>
            </a:r>
            <a:endParaRPr lang="en-US" sz="1400" dirty="0"/>
          </a:p>
        </p:txBody>
      </p:sp>
      <p:sp>
        <p:nvSpPr>
          <p:cNvPr id="6" name="Text 3"/>
          <p:cNvSpPr/>
          <p:nvPr/>
        </p:nvSpPr>
        <p:spPr>
          <a:xfrm>
            <a:off x="502920" y="1207008"/>
            <a:ext cx="8138160" cy="59436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Tushabe et al. (2024) Ugandan Sickle Cell Microscopy Dataset. Blood smear images collected from patients in Soroti and Kumi districts, Uganda, using mobile phone cameras placed on the eyepiece of basic optical microscopes. Published in Acta Scientific Microbiology, Vol. 7, Issue 12.</a:t>
            </a:r>
            <a:endParaRPr lang="en-US" sz="1300" dirty="0"/>
          </a:p>
        </p:txBody>
      </p:sp>
      <p:sp>
        <p:nvSpPr>
          <p:cNvPr id="7" name="Text 4"/>
          <p:cNvSpPr/>
          <p:nvPr/>
        </p:nvSpPr>
        <p:spPr>
          <a:xfrm>
            <a:off x="502920" y="1810512"/>
            <a:ext cx="8138160" cy="256032"/>
          </a:xfrm>
          <a:prstGeom prst="rect">
            <a:avLst/>
          </a:prstGeom>
          <a:noFill/>
          <a:ln/>
        </p:spPr>
        <p:txBody>
          <a:bodyPr wrap="square" rtlCol="0" anchor="ctr"/>
          <a:lstStyle/>
          <a:p>
            <a:pPr marL="0" indent="0">
              <a:buNone/>
            </a:pPr>
            <a:r>
              <a:rPr lang="en-US" sz="1100" i="1" dirty="0">
                <a:solidFill>
                  <a:srgbClr val="1A6B7A"/>
                </a:solidFill>
                <a:latin typeface="Calibri" pitchFamily="34" charset="0"/>
                <a:ea typeface="Calibri" pitchFamily="34" charset="-122"/>
                <a:cs typeface="Calibri" pitchFamily="34" charset="-120"/>
              </a:rPr>
              <a:t>https://www.kaggle.com/datasets/florencetushabe/sickle-cell-disease-dataset</a:t>
            </a:r>
            <a:endParaRPr lang="en-US" sz="1100" dirty="0"/>
          </a:p>
        </p:txBody>
      </p:sp>
      <p:sp>
        <p:nvSpPr>
          <p:cNvPr id="8" name="Text 5"/>
          <p:cNvSpPr/>
          <p:nvPr/>
        </p:nvSpPr>
        <p:spPr>
          <a:xfrm>
            <a:off x="502920" y="2212848"/>
            <a:ext cx="8229600" cy="292608"/>
          </a:xfrm>
          <a:prstGeom prst="rect">
            <a:avLst/>
          </a:prstGeom>
          <a:noFill/>
          <a:ln/>
        </p:spPr>
        <p:txBody>
          <a:bodyPr wrap="square" rtlCol="0" anchor="ctr"/>
          <a:lstStyle/>
          <a:p>
            <a:pPr marL="0" indent="0">
              <a:buNone/>
            </a:pPr>
            <a:r>
              <a:rPr lang="en-US" sz="1400" b="1" dirty="0">
                <a:solidFill>
                  <a:srgbClr val="2C4A6B"/>
                </a:solidFill>
                <a:latin typeface="Calibri" pitchFamily="34" charset="0"/>
                <a:ea typeface="Calibri" pitchFamily="34" charset="-122"/>
                <a:cs typeface="Calibri" pitchFamily="34" charset="-120"/>
              </a:rPr>
              <a:t>Supplementary Dataset — Normal Class</a:t>
            </a:r>
            <a:endParaRPr lang="en-US" sz="1400" dirty="0"/>
          </a:p>
        </p:txBody>
      </p:sp>
      <p:sp>
        <p:nvSpPr>
          <p:cNvPr id="9" name="Text 6"/>
          <p:cNvSpPr/>
          <p:nvPr/>
        </p:nvSpPr>
        <p:spPr>
          <a:xfrm>
            <a:off x="502920" y="2523744"/>
            <a:ext cx="8138160" cy="50292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BCCD Dataset (Shenggan et al.). 364 normal peripheral blood smear images captured under controlled laboratory conditions. MIT licence — freely usable for research.</a:t>
            </a:r>
            <a:endParaRPr lang="en-US" sz="1300" dirty="0"/>
          </a:p>
        </p:txBody>
      </p:sp>
      <p:sp>
        <p:nvSpPr>
          <p:cNvPr id="10" name="Text 7"/>
          <p:cNvSpPr/>
          <p:nvPr/>
        </p:nvSpPr>
        <p:spPr>
          <a:xfrm>
            <a:off x="502920" y="3035808"/>
            <a:ext cx="8138160" cy="256032"/>
          </a:xfrm>
          <a:prstGeom prst="rect">
            <a:avLst/>
          </a:prstGeom>
          <a:noFill/>
          <a:ln/>
        </p:spPr>
        <p:txBody>
          <a:bodyPr wrap="square" rtlCol="0" anchor="ctr"/>
          <a:lstStyle/>
          <a:p>
            <a:pPr marL="0" indent="0">
              <a:buNone/>
            </a:pPr>
            <a:r>
              <a:rPr lang="en-US" sz="1100" i="1" dirty="0">
                <a:solidFill>
                  <a:srgbClr val="1A6B7A"/>
                </a:solidFill>
                <a:latin typeface="Calibri" pitchFamily="34" charset="0"/>
                <a:ea typeface="Calibri" pitchFamily="34" charset="-122"/>
                <a:cs typeface="Calibri" pitchFamily="34" charset="-120"/>
              </a:rPr>
              <a:t>https://github.com/Shenggan/BCCD_Dataset</a:t>
            </a:r>
            <a:endParaRPr lang="en-US" sz="1100" dirty="0"/>
          </a:p>
        </p:txBody>
      </p:sp>
      <p:sp>
        <p:nvSpPr>
          <p:cNvPr id="11" name="Text 8"/>
          <p:cNvSpPr/>
          <p:nvPr/>
        </p:nvSpPr>
        <p:spPr>
          <a:xfrm>
            <a:off x="502920" y="3429000"/>
            <a:ext cx="8229600" cy="27432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Data Challenges Encountered</a:t>
            </a:r>
            <a:endParaRPr lang="en-US" sz="1300" dirty="0"/>
          </a:p>
        </p:txBody>
      </p:sp>
      <p:sp>
        <p:nvSpPr>
          <p:cNvPr id="12" name="Text 9"/>
          <p:cNvSpPr/>
          <p:nvPr/>
        </p:nvSpPr>
        <p:spPr>
          <a:xfrm>
            <a:off x="502920" y="3730752"/>
            <a:ext cx="8138160" cy="54864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Mendeley dataset replaced — found to contain white blood cells, not red blood cell smear images.   422 labelled Tushabe images excluded — bounding box annotations were burned directly into the image pixels.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Dataset — Sample Blood Smear Images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pic>
        <p:nvPicPr>
          <p:cNvPr id="5" name="Image 0" descr="preencoded.png"/>
          <p:cNvPicPr>
            <a:picLocks noChangeAspect="1"/>
          </p:cNvPicPr>
          <p:nvPr/>
        </p:nvPicPr>
        <p:blipFill>
          <a:blip r:embed="rId3"/>
          <a:stretch>
            <a:fillRect/>
          </a:stretch>
        </p:blipFill>
        <p:spPr>
          <a:xfrm>
            <a:off x="365760" y="841248"/>
            <a:ext cx="8412480" cy="3749040"/>
          </a:xfrm>
          <a:prstGeom prst="rect">
            <a:avLst/>
          </a:prstGeom>
        </p:spPr>
      </p:pic>
      <p:sp>
        <p:nvSpPr>
          <p:cNvPr id="6" name="Text 2"/>
          <p:cNvSpPr/>
          <p:nvPr/>
        </p:nvSpPr>
        <p:spPr>
          <a:xfrm>
            <a:off x="365760" y="4645152"/>
            <a:ext cx="8412480" cy="384048"/>
          </a:xfrm>
          <a:prstGeom prst="rect">
            <a:avLst/>
          </a:prstGeom>
          <a:noFill/>
          <a:ln/>
        </p:spPr>
        <p:txBody>
          <a:bodyPr wrap="square" rtlCol="0" anchor="ctr"/>
          <a:lstStyle/>
          <a:p>
            <a:pPr marL="0" indent="0" algn="ctr">
              <a:buNone/>
            </a:pPr>
            <a:r>
              <a:rPr lang="en-US" sz="1100" i="1" dirty="0">
                <a:solidFill>
                  <a:srgbClr val="7A92A8"/>
                </a:solidFill>
                <a:latin typeface="Calibri" pitchFamily="34" charset="0"/>
                <a:ea typeface="Calibri" pitchFamily="34" charset="-122"/>
                <a:cs typeface="Calibri" pitchFamily="34" charset="-120"/>
              </a:rPr>
              <a:t>Top row: Positive (sickle cell) images — elongated crescent-shaped cells visible within circular microscope field.   Bottom row: Negative images — Tushabe normal smears (circular border) and BCCD laboratory images (rectangular).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Dataset — Composition and Split</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914400"/>
            <a:ext cx="2926080" cy="502920"/>
          </a:xfrm>
          <a:prstGeom prst="rect">
            <a:avLst/>
          </a:prstGeom>
          <a:solidFill>
            <a:srgbClr val="0B1F3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p>
        </p:txBody>
      </p:sp>
      <p:sp>
        <p:nvSpPr>
          <p:cNvPr id="6" name="Text 3"/>
          <p:cNvSpPr/>
          <p:nvPr/>
        </p:nvSpPr>
        <p:spPr>
          <a:xfrm>
            <a:off x="3429000" y="914400"/>
            <a:ext cx="1463040" cy="502920"/>
          </a:xfrm>
          <a:prstGeom prst="rect">
            <a:avLst/>
          </a:prstGeom>
          <a:solidFill>
            <a:srgbClr val="0B1F3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Class</a:t>
            </a:r>
            <a:endParaRPr lang="en-US" sz="1300" dirty="0"/>
          </a:p>
        </p:txBody>
      </p:sp>
      <p:sp>
        <p:nvSpPr>
          <p:cNvPr id="7" name="Text 4"/>
          <p:cNvSpPr/>
          <p:nvPr/>
        </p:nvSpPr>
        <p:spPr>
          <a:xfrm>
            <a:off x="4892040" y="914400"/>
            <a:ext cx="1280160" cy="502920"/>
          </a:xfrm>
          <a:prstGeom prst="rect">
            <a:avLst/>
          </a:prstGeom>
          <a:solidFill>
            <a:srgbClr val="0B1F3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Images</a:t>
            </a:r>
            <a:endParaRPr lang="en-US" sz="1300" dirty="0"/>
          </a:p>
        </p:txBody>
      </p:sp>
      <p:sp>
        <p:nvSpPr>
          <p:cNvPr id="8" name="Text 5"/>
          <p:cNvSpPr/>
          <p:nvPr/>
        </p:nvSpPr>
        <p:spPr>
          <a:xfrm>
            <a:off x="6172200" y="914400"/>
            <a:ext cx="2926080" cy="502920"/>
          </a:xfrm>
          <a:prstGeom prst="rect">
            <a:avLst/>
          </a:prstGeom>
          <a:solidFill>
            <a:srgbClr val="0B1F3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Camera Type</a:t>
            </a:r>
            <a:endParaRPr lang="en-US" sz="1300" dirty="0"/>
          </a:p>
        </p:txBody>
      </p:sp>
      <p:sp>
        <p:nvSpPr>
          <p:cNvPr id="9" name="Text 6"/>
          <p:cNvSpPr/>
          <p:nvPr/>
        </p:nvSpPr>
        <p:spPr>
          <a:xfrm>
            <a:off x="502920" y="1481328"/>
            <a:ext cx="292608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Tushabe (2024) — unlabelled</a:t>
            </a:r>
            <a:endParaRPr lang="en-US" sz="1300" dirty="0"/>
          </a:p>
        </p:txBody>
      </p:sp>
      <p:sp>
        <p:nvSpPr>
          <p:cNvPr id="10" name="Text 7"/>
          <p:cNvSpPr/>
          <p:nvPr/>
        </p:nvSpPr>
        <p:spPr>
          <a:xfrm>
            <a:off x="3429000" y="1481328"/>
            <a:ext cx="146304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Positive</a:t>
            </a:r>
            <a:endParaRPr lang="en-US" sz="1300" dirty="0"/>
          </a:p>
        </p:txBody>
      </p:sp>
      <p:sp>
        <p:nvSpPr>
          <p:cNvPr id="11" name="Text 8"/>
          <p:cNvSpPr/>
          <p:nvPr/>
        </p:nvSpPr>
        <p:spPr>
          <a:xfrm>
            <a:off x="4892040" y="1481328"/>
            <a:ext cx="128016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422</a:t>
            </a:r>
            <a:endParaRPr lang="en-US" sz="1300" dirty="0"/>
          </a:p>
        </p:txBody>
      </p:sp>
      <p:sp>
        <p:nvSpPr>
          <p:cNvPr id="12" name="Text 9"/>
          <p:cNvSpPr/>
          <p:nvPr/>
        </p:nvSpPr>
        <p:spPr>
          <a:xfrm>
            <a:off x="6172200" y="1481328"/>
            <a:ext cx="292608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Mobile phone microscope</a:t>
            </a:r>
            <a:endParaRPr lang="en-US" sz="1300" dirty="0"/>
          </a:p>
        </p:txBody>
      </p:sp>
      <p:sp>
        <p:nvSpPr>
          <p:cNvPr id="13" name="Text 10"/>
          <p:cNvSpPr/>
          <p:nvPr/>
        </p:nvSpPr>
        <p:spPr>
          <a:xfrm>
            <a:off x="502920" y="2048256"/>
            <a:ext cx="2926080" cy="502920"/>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Tushabe (2024)</a:t>
            </a:r>
            <a:endParaRPr lang="en-US" sz="1300" dirty="0"/>
          </a:p>
        </p:txBody>
      </p:sp>
      <p:sp>
        <p:nvSpPr>
          <p:cNvPr id="14" name="Text 11"/>
          <p:cNvSpPr/>
          <p:nvPr/>
        </p:nvSpPr>
        <p:spPr>
          <a:xfrm>
            <a:off x="3429000" y="2048256"/>
            <a:ext cx="1463040" cy="502920"/>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Negative</a:t>
            </a:r>
            <a:endParaRPr lang="en-US" sz="1300" dirty="0"/>
          </a:p>
        </p:txBody>
      </p:sp>
      <p:sp>
        <p:nvSpPr>
          <p:cNvPr id="15" name="Text 12"/>
          <p:cNvSpPr/>
          <p:nvPr/>
        </p:nvSpPr>
        <p:spPr>
          <a:xfrm>
            <a:off x="4892040" y="2048256"/>
            <a:ext cx="1280160" cy="502920"/>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147</a:t>
            </a:r>
            <a:endParaRPr lang="en-US" sz="1300" dirty="0"/>
          </a:p>
        </p:txBody>
      </p:sp>
      <p:sp>
        <p:nvSpPr>
          <p:cNvPr id="16" name="Text 13"/>
          <p:cNvSpPr/>
          <p:nvPr/>
        </p:nvSpPr>
        <p:spPr>
          <a:xfrm>
            <a:off x="6172200" y="2048256"/>
            <a:ext cx="2926080" cy="502920"/>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Mobile phone microscope</a:t>
            </a:r>
            <a:endParaRPr lang="en-US" sz="1300" dirty="0"/>
          </a:p>
        </p:txBody>
      </p:sp>
      <p:sp>
        <p:nvSpPr>
          <p:cNvPr id="17" name="Text 14"/>
          <p:cNvSpPr/>
          <p:nvPr/>
        </p:nvSpPr>
        <p:spPr>
          <a:xfrm>
            <a:off x="502920" y="2615184"/>
            <a:ext cx="292608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BCCD Dataset</a:t>
            </a:r>
            <a:endParaRPr lang="en-US" sz="1300" dirty="0"/>
          </a:p>
        </p:txBody>
      </p:sp>
      <p:sp>
        <p:nvSpPr>
          <p:cNvPr id="18" name="Text 15"/>
          <p:cNvSpPr/>
          <p:nvPr/>
        </p:nvSpPr>
        <p:spPr>
          <a:xfrm>
            <a:off x="3429000" y="2615184"/>
            <a:ext cx="146304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Negative</a:t>
            </a:r>
            <a:endParaRPr lang="en-US" sz="1300" dirty="0"/>
          </a:p>
        </p:txBody>
      </p:sp>
      <p:sp>
        <p:nvSpPr>
          <p:cNvPr id="19" name="Text 16"/>
          <p:cNvSpPr/>
          <p:nvPr/>
        </p:nvSpPr>
        <p:spPr>
          <a:xfrm>
            <a:off x="4892040" y="2615184"/>
            <a:ext cx="128016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364</a:t>
            </a:r>
            <a:endParaRPr lang="en-US" sz="1300" dirty="0"/>
          </a:p>
        </p:txBody>
      </p:sp>
      <p:sp>
        <p:nvSpPr>
          <p:cNvPr id="20" name="Text 17"/>
          <p:cNvSpPr/>
          <p:nvPr/>
        </p:nvSpPr>
        <p:spPr>
          <a:xfrm>
            <a:off x="6172200" y="2615184"/>
            <a:ext cx="2926080" cy="502920"/>
          </a:xfrm>
          <a:prstGeom prst="rect">
            <a:avLst/>
          </a:prstGeom>
          <a:solidFill>
            <a:srgbClr val="FFFFFF"/>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Laboratory camera</a:t>
            </a:r>
            <a:endParaRPr lang="en-US" sz="1300" dirty="0"/>
          </a:p>
        </p:txBody>
      </p:sp>
      <p:sp>
        <p:nvSpPr>
          <p:cNvPr id="21" name="Text 18"/>
          <p:cNvSpPr/>
          <p:nvPr/>
        </p:nvSpPr>
        <p:spPr>
          <a:xfrm>
            <a:off x="502920" y="3182112"/>
            <a:ext cx="2926080" cy="502920"/>
          </a:xfrm>
          <a:prstGeom prst="rect">
            <a:avLst/>
          </a:prstGeom>
          <a:solidFill>
            <a:srgbClr val="2C4A6B"/>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Total</a:t>
            </a:r>
            <a:endParaRPr lang="en-US" sz="1300" dirty="0"/>
          </a:p>
        </p:txBody>
      </p:sp>
      <p:sp>
        <p:nvSpPr>
          <p:cNvPr id="22" name="Text 19"/>
          <p:cNvSpPr/>
          <p:nvPr/>
        </p:nvSpPr>
        <p:spPr>
          <a:xfrm>
            <a:off x="3429000" y="3182112"/>
            <a:ext cx="1463040" cy="502920"/>
          </a:xfrm>
          <a:prstGeom prst="rect">
            <a:avLst/>
          </a:prstGeom>
          <a:solidFill>
            <a:srgbClr val="2C4A6B"/>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Both</a:t>
            </a:r>
            <a:endParaRPr lang="en-US" sz="1300" dirty="0"/>
          </a:p>
        </p:txBody>
      </p:sp>
      <p:sp>
        <p:nvSpPr>
          <p:cNvPr id="23" name="Text 20"/>
          <p:cNvSpPr/>
          <p:nvPr/>
        </p:nvSpPr>
        <p:spPr>
          <a:xfrm>
            <a:off x="4892040" y="3182112"/>
            <a:ext cx="1280160" cy="502920"/>
          </a:xfrm>
          <a:prstGeom prst="rect">
            <a:avLst/>
          </a:prstGeom>
          <a:solidFill>
            <a:srgbClr val="2C4A6B"/>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933</a:t>
            </a:r>
            <a:endParaRPr lang="en-US" sz="1300" dirty="0"/>
          </a:p>
        </p:txBody>
      </p:sp>
      <p:sp>
        <p:nvSpPr>
          <p:cNvPr id="24" name="Text 21"/>
          <p:cNvSpPr/>
          <p:nvPr/>
        </p:nvSpPr>
        <p:spPr>
          <a:xfrm>
            <a:off x="6172200" y="3182112"/>
            <a:ext cx="2926080" cy="502920"/>
          </a:xfrm>
          <a:prstGeom prst="rect">
            <a:avLst/>
          </a:prstGeom>
          <a:solidFill>
            <a:srgbClr val="2C4A6B"/>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Mixed</a:t>
            </a:r>
            <a:endParaRPr lang="en-US" sz="1300" dirty="0"/>
          </a:p>
        </p:txBody>
      </p:sp>
      <p:sp>
        <p:nvSpPr>
          <p:cNvPr id="25" name="Text 22"/>
          <p:cNvSpPr/>
          <p:nvPr/>
        </p:nvSpPr>
        <p:spPr>
          <a:xfrm>
            <a:off x="502920" y="3858768"/>
            <a:ext cx="8138160" cy="274320"/>
          </a:xfrm>
          <a:prstGeom prst="rect">
            <a:avLst/>
          </a:prstGeom>
          <a:noFill/>
          <a:ln/>
        </p:spPr>
        <p:txBody>
          <a:bodyPr wrap="square" rtlCol="0" anchor="ctr"/>
          <a:lstStyle/>
          <a:p>
            <a:pPr marL="0" indent="0">
              <a:buNone/>
            </a:pPr>
            <a:r>
              <a:rPr lang="en-US" sz="1300" b="1" dirty="0">
                <a:solidFill>
                  <a:srgbClr val="1A6B7A"/>
                </a:solidFill>
                <a:latin typeface="Calibri" pitchFamily="34" charset="0"/>
                <a:ea typeface="Calibri" pitchFamily="34" charset="-122"/>
                <a:cs typeface="Calibri" pitchFamily="34" charset="-120"/>
              </a:rPr>
              <a:t>Train / Validation / Test Split</a:t>
            </a:r>
            <a:endParaRPr lang="en-US" sz="1300" dirty="0"/>
          </a:p>
        </p:txBody>
      </p:sp>
      <p:sp>
        <p:nvSpPr>
          <p:cNvPr id="26" name="Text 23"/>
          <p:cNvSpPr/>
          <p:nvPr/>
        </p:nvSpPr>
        <p:spPr>
          <a:xfrm>
            <a:off x="502920" y="4187952"/>
            <a:ext cx="2743200" cy="347472"/>
          </a:xfrm>
          <a:prstGeom prst="rect">
            <a:avLst/>
          </a:prstGeom>
          <a:noFill/>
          <a:ln/>
        </p:spPr>
        <p:txBody>
          <a:bodyPr wrap="square" rtlCol="0" anchor="ctr"/>
          <a:lstStyle/>
          <a:p>
            <a:pPr marL="0" indent="0">
              <a:buNone/>
            </a:pPr>
            <a:r>
              <a:rPr lang="en-US" sz="1300" dirty="0">
                <a:solidFill>
                  <a:srgbClr val="0B1F3A"/>
                </a:solidFill>
                <a:latin typeface="Calibri" pitchFamily="34" charset="0"/>
                <a:ea typeface="Calibri" pitchFamily="34" charset="-122"/>
                <a:cs typeface="Calibri" pitchFamily="34" charset="-120"/>
              </a:rPr>
              <a:t>Training: 746 images (80%)</a:t>
            </a:r>
            <a:endParaRPr lang="en-US" sz="1300" dirty="0"/>
          </a:p>
        </p:txBody>
      </p:sp>
      <p:sp>
        <p:nvSpPr>
          <p:cNvPr id="27" name="Text 24"/>
          <p:cNvSpPr/>
          <p:nvPr/>
        </p:nvSpPr>
        <p:spPr>
          <a:xfrm>
            <a:off x="3429000" y="4187952"/>
            <a:ext cx="2743200" cy="347472"/>
          </a:xfrm>
          <a:prstGeom prst="rect">
            <a:avLst/>
          </a:prstGeom>
          <a:noFill/>
          <a:ln/>
        </p:spPr>
        <p:txBody>
          <a:bodyPr wrap="square" rtlCol="0" anchor="ctr"/>
          <a:lstStyle/>
          <a:p>
            <a:pPr marL="0" indent="0">
              <a:buNone/>
            </a:pPr>
            <a:r>
              <a:rPr lang="en-US" sz="1300" dirty="0">
                <a:solidFill>
                  <a:srgbClr val="0B1F3A"/>
                </a:solidFill>
                <a:latin typeface="Calibri" pitchFamily="34" charset="0"/>
                <a:ea typeface="Calibri" pitchFamily="34" charset="-122"/>
                <a:cs typeface="Calibri" pitchFamily="34" charset="-120"/>
              </a:rPr>
              <a:t>Test: 187 images (20%)</a:t>
            </a:r>
            <a:endParaRPr lang="en-US" sz="1300" dirty="0"/>
          </a:p>
        </p:txBody>
      </p:sp>
      <p:sp>
        <p:nvSpPr>
          <p:cNvPr id="28" name="Text 25"/>
          <p:cNvSpPr/>
          <p:nvPr/>
        </p:nvSpPr>
        <p:spPr>
          <a:xfrm>
            <a:off x="502920" y="4590288"/>
            <a:ext cx="8138160" cy="365760"/>
          </a:xfrm>
          <a:prstGeom prst="rect">
            <a:avLst/>
          </a:prstGeom>
          <a:noFill/>
          <a:ln/>
        </p:spPr>
        <p:txBody>
          <a:bodyPr wrap="square"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Stratified split — class proportions preserved in both sets. Mild class imbalance of 1.21:1 addressed using class_weight=balanced.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Methodology — Feature Extraction</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8138160" cy="274320"/>
          </a:xfrm>
          <a:prstGeom prst="rect">
            <a:avLst/>
          </a:prstGeom>
          <a:noFill/>
          <a:ln/>
        </p:spPr>
        <p:txBody>
          <a:bodyPr wrap="square" rtlCol="0" anchor="ctr"/>
          <a:lstStyle/>
          <a:p>
            <a:pPr marL="0" indent="0">
              <a:buNone/>
            </a:pPr>
            <a:r>
              <a:rPr lang="en-US" sz="1300" b="1" dirty="0">
                <a:solidFill>
                  <a:srgbClr val="1A6B7A"/>
                </a:solidFill>
                <a:latin typeface="Calibri" pitchFamily="34" charset="0"/>
                <a:ea typeface="Calibri" pitchFamily="34" charset="-122"/>
                <a:cs typeface="Calibri" pitchFamily="34" charset="-120"/>
              </a:rPr>
              <a:t>From Image to Features Matrix</a:t>
            </a:r>
            <a:endParaRPr lang="en-US" sz="1300" dirty="0"/>
          </a:p>
        </p:txBody>
      </p:sp>
      <p:sp>
        <p:nvSpPr>
          <p:cNvPr id="6" name="Text 3"/>
          <p:cNvSpPr/>
          <p:nvPr/>
        </p:nvSpPr>
        <p:spPr>
          <a:xfrm>
            <a:off x="502920" y="1170432"/>
            <a:ext cx="4206240" cy="1920240"/>
          </a:xfrm>
          <a:prstGeom prst="rect">
            <a:avLst/>
          </a:prstGeom>
          <a:noFill/>
          <a:ln/>
        </p:spPr>
        <p:txBody>
          <a:bodyPr wrap="square" rtlCol="0" anchor="ctr"/>
          <a:lstStyle/>
          <a:p>
            <a:pPr marL="0" indent="0">
              <a:spcAft>
                <a:spcPts val="600"/>
              </a:spcAft>
              <a:buNone/>
            </a:pPr>
            <a:r>
              <a:rPr lang="en-US" sz="1250" dirty="0">
                <a:solidFill>
                  <a:srgbClr val="333333"/>
                </a:solidFill>
                <a:latin typeface="Calibri" pitchFamily="34" charset="0"/>
                <a:ea typeface="Calibri" pitchFamily="34" charset="-122"/>
                <a:cs typeface="Calibri" pitchFamily="34" charset="-120"/>
              </a:rPr>
              <a:t>Classical machine learning requires a numerical features matrix as input — raw images cannot be fed directly. Each image was resized to 128×128 pixels and converted to grayscale before Histogram of Oriented Gradients (HOG) extraction, which captures the distribution of edge orientations across local image regions. Each image produces a fixed vector of 8,100 numerical values representing the shape and texture of the cells visible in the smear.</a:t>
            </a:r>
            <a:endParaRPr lang="en-US" sz="1250" dirty="0"/>
          </a:p>
        </p:txBody>
      </p:sp>
      <p:pic>
        <p:nvPicPr>
          <p:cNvPr id="7" name="Image 0" descr="preencoded.png"/>
          <p:cNvPicPr>
            <a:picLocks noChangeAspect="1"/>
          </p:cNvPicPr>
          <p:nvPr/>
        </p:nvPicPr>
        <p:blipFill>
          <a:blip r:embed="rId3"/>
          <a:stretch>
            <a:fillRect/>
          </a:stretch>
        </p:blipFill>
        <p:spPr>
          <a:xfrm>
            <a:off x="4892040" y="841248"/>
            <a:ext cx="3840480" cy="2331720"/>
          </a:xfrm>
          <a:prstGeom prst="rect">
            <a:avLst/>
          </a:prstGeom>
        </p:spPr>
      </p:pic>
      <p:sp>
        <p:nvSpPr>
          <p:cNvPr id="8" name="Text 4"/>
          <p:cNvSpPr/>
          <p:nvPr/>
        </p:nvSpPr>
        <p:spPr>
          <a:xfrm>
            <a:off x="4892040" y="3200400"/>
            <a:ext cx="3840480" cy="256032"/>
          </a:xfrm>
          <a:prstGeom prst="rect">
            <a:avLst/>
          </a:prstGeom>
          <a:noFill/>
          <a:ln/>
        </p:spPr>
        <p:txBody>
          <a:bodyPr wrap="square" rtlCol="0" anchor="ctr"/>
          <a:lstStyle/>
          <a:p>
            <a:pPr marL="0" indent="0" algn="ctr">
              <a:buNone/>
            </a:pPr>
            <a:r>
              <a:rPr lang="en-US" sz="1000" i="1" dirty="0">
                <a:solidFill>
                  <a:srgbClr val="7A92A8"/>
                </a:solidFill>
                <a:latin typeface="Calibri" pitchFamily="34" charset="0"/>
                <a:ea typeface="Calibri" pitchFamily="34" charset="-122"/>
                <a:cs typeface="Calibri" pitchFamily="34" charset="-120"/>
              </a:rPr>
              <a:t>HOG representation of positive and negative images</a:t>
            </a:r>
            <a:endParaRPr lang="en-US" sz="1000" dirty="0"/>
          </a:p>
        </p:txBody>
      </p:sp>
      <p:sp>
        <p:nvSpPr>
          <p:cNvPr id="9" name="Text 5"/>
          <p:cNvSpPr/>
          <p:nvPr/>
        </p:nvSpPr>
        <p:spPr>
          <a:xfrm>
            <a:off x="502920" y="3273552"/>
            <a:ext cx="8138160" cy="274320"/>
          </a:xfrm>
          <a:prstGeom prst="rect">
            <a:avLst/>
          </a:prstGeom>
          <a:noFill/>
          <a:ln/>
        </p:spPr>
        <p:txBody>
          <a:bodyPr wrap="square" rtlCol="0" anchor="ctr"/>
          <a:lstStyle/>
          <a:p>
            <a:pPr marL="0" indent="0">
              <a:buNone/>
            </a:pPr>
            <a:r>
              <a:rPr lang="en-US" sz="1300" b="1" dirty="0">
                <a:solidFill>
                  <a:srgbClr val="1A6B7A"/>
                </a:solidFill>
                <a:latin typeface="Calibri" pitchFamily="34" charset="0"/>
                <a:ea typeface="Calibri" pitchFamily="34" charset="-122"/>
                <a:cs typeface="Calibri" pitchFamily="34" charset="-120"/>
              </a:rPr>
              <a:t>Preprocessing Pipeline</a:t>
            </a:r>
            <a:endParaRPr lang="en-US" sz="1300" dirty="0"/>
          </a:p>
        </p:txBody>
      </p:sp>
      <p:sp>
        <p:nvSpPr>
          <p:cNvPr id="10" name="Text 6"/>
          <p:cNvSpPr/>
          <p:nvPr/>
        </p:nvSpPr>
        <p:spPr>
          <a:xfrm>
            <a:off x="502920" y="3584448"/>
            <a:ext cx="8138160" cy="658368"/>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The train-test split was applied before fitting the StandardScaler to prevent data leakage. The scaler was fitted on training data only and used to transform both training and test sets, standardising all 8,100 features to zero mean and unit variance.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Methodology — Classifiers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8138160" cy="292608"/>
          </a:xfrm>
          <a:prstGeom prst="rect">
            <a:avLst/>
          </a:prstGeom>
          <a:noFill/>
          <a:ln/>
        </p:spPr>
        <p:txBody>
          <a:bodyPr wrap="square" rtlCol="0" anchor="ctr"/>
          <a:lstStyle/>
          <a:p>
            <a:pPr marL="0" indent="0">
              <a:buNone/>
            </a:pPr>
            <a:r>
              <a:rPr lang="en-US" sz="1400" b="1" dirty="0">
                <a:solidFill>
                  <a:srgbClr val="1A6B7A"/>
                </a:solidFill>
                <a:latin typeface="Calibri" pitchFamily="34" charset="0"/>
                <a:ea typeface="Calibri" pitchFamily="34" charset="-122"/>
                <a:cs typeface="Calibri" pitchFamily="34" charset="-120"/>
              </a:rPr>
              <a:t>Support Vector Machine (SVM)</a:t>
            </a:r>
            <a:endParaRPr lang="en-US" sz="1400" dirty="0"/>
          </a:p>
        </p:txBody>
      </p:sp>
      <p:sp>
        <p:nvSpPr>
          <p:cNvPr id="6" name="Text 3"/>
          <p:cNvSpPr/>
          <p:nvPr/>
        </p:nvSpPr>
        <p:spPr>
          <a:xfrm>
            <a:off x="502920" y="1216152"/>
            <a:ext cx="8138160" cy="960120"/>
          </a:xfrm>
          <a:prstGeom prst="rect">
            <a:avLst/>
          </a:prstGeom>
          <a:noFill/>
          <a:ln/>
        </p:spPr>
        <p:txBody>
          <a:bodyPr wrap="square" rtlCol="0" anchor="ctr"/>
          <a:lstStyle/>
          <a:p>
            <a:pPr marL="0" indent="0">
              <a:spcAft>
                <a:spcPts val="500"/>
              </a:spcAft>
              <a:buNone/>
            </a:pPr>
            <a:r>
              <a:rPr lang="en-US" sz="1250" dirty="0">
                <a:solidFill>
                  <a:srgbClr val="333333"/>
                </a:solidFill>
                <a:latin typeface="Calibri" pitchFamily="34" charset="0"/>
                <a:ea typeface="Calibri" pitchFamily="34" charset="-122"/>
                <a:cs typeface="Calibri" pitchFamily="34" charset="-120"/>
              </a:rPr>
              <a:t>SVM finds the optimal decision boundary separating the two classes with maximum margin in the 8,100-dimensional feature space. The RBF kernel maps features into a higher-dimensional space to handle non-linear boundaries. class_weight=balanced was set to address the class imbalance. GridSearchCV tuned C (0.1, 1, 10, 100), kernel (rbf, linear), and gamma (scale, auto) using 5-fold cross-validation with F1 scoring.</a:t>
            </a:r>
            <a:endParaRPr lang="en-US" sz="1250" dirty="0"/>
          </a:p>
        </p:txBody>
      </p:sp>
      <p:sp>
        <p:nvSpPr>
          <p:cNvPr id="7" name="Text 4"/>
          <p:cNvSpPr/>
          <p:nvPr/>
        </p:nvSpPr>
        <p:spPr>
          <a:xfrm>
            <a:off x="502920" y="2304288"/>
            <a:ext cx="8138160" cy="292608"/>
          </a:xfrm>
          <a:prstGeom prst="rect">
            <a:avLst/>
          </a:prstGeom>
          <a:noFill/>
          <a:ln/>
        </p:spPr>
        <p:txBody>
          <a:bodyPr wrap="square" rtlCol="0" anchor="ctr"/>
          <a:lstStyle/>
          <a:p>
            <a:pPr marL="0" indent="0">
              <a:buNone/>
            </a:pPr>
            <a:r>
              <a:rPr lang="en-US" sz="1400" b="1" dirty="0">
                <a:solidFill>
                  <a:srgbClr val="2C4A6B"/>
                </a:solidFill>
                <a:latin typeface="Calibri" pitchFamily="34" charset="0"/>
                <a:ea typeface="Calibri" pitchFamily="34" charset="-122"/>
                <a:cs typeface="Calibri" pitchFamily="34" charset="-120"/>
              </a:rPr>
              <a:t>Random Forest</a:t>
            </a:r>
            <a:endParaRPr lang="en-US" sz="1400" dirty="0"/>
          </a:p>
        </p:txBody>
      </p:sp>
      <p:sp>
        <p:nvSpPr>
          <p:cNvPr id="8" name="Text 5"/>
          <p:cNvSpPr/>
          <p:nvPr/>
        </p:nvSpPr>
        <p:spPr>
          <a:xfrm>
            <a:off x="502920" y="2624328"/>
            <a:ext cx="8138160" cy="960120"/>
          </a:xfrm>
          <a:prstGeom prst="rect">
            <a:avLst/>
          </a:prstGeom>
          <a:noFill/>
          <a:ln/>
        </p:spPr>
        <p:txBody>
          <a:bodyPr wrap="square" rtlCol="0" anchor="ctr"/>
          <a:lstStyle/>
          <a:p>
            <a:pPr marL="0" indent="0">
              <a:spcAft>
                <a:spcPts val="500"/>
              </a:spcAft>
              <a:buNone/>
            </a:pPr>
            <a:r>
              <a:rPr lang="en-US" sz="1250" dirty="0">
                <a:solidFill>
                  <a:srgbClr val="333333"/>
                </a:solidFill>
                <a:latin typeface="Calibri" pitchFamily="34" charset="0"/>
                <a:ea typeface="Calibri" pitchFamily="34" charset="-122"/>
                <a:cs typeface="Calibri" pitchFamily="34" charset="-120"/>
              </a:rPr>
              <a:t>Random Forest builds multiple decision trees on random subsets of the training data and features, then combines predictions by majority vote. This ensemble approach reduces the variance of individual trees. class_weight=balanced was used. GridSearchCV tuned n_estimators (100, 200), max_depth (10, 20, None), min_samples_split (2, 5, 10), and min_samples_leaf (1, 2).</a:t>
            </a:r>
            <a:endParaRPr lang="en-US" sz="1250" dirty="0"/>
          </a:p>
        </p:txBody>
      </p:sp>
      <p:sp>
        <p:nvSpPr>
          <p:cNvPr id="9" name="Text 6"/>
          <p:cNvSpPr/>
          <p:nvPr/>
        </p:nvSpPr>
        <p:spPr>
          <a:xfrm>
            <a:off x="502920" y="3712464"/>
            <a:ext cx="8138160" cy="274320"/>
          </a:xfrm>
          <a:prstGeom prst="rect">
            <a:avLst/>
          </a:prstGeom>
          <a:noFill/>
          <a:ln/>
        </p:spPr>
        <p:txBody>
          <a:bodyPr wrap="square" rtlCol="0" anchor="ctr"/>
          <a:lstStyle/>
          <a:p>
            <a:pPr marL="0" indent="0">
              <a:buNone/>
            </a:pPr>
            <a:r>
              <a:rPr lang="en-US" sz="1300" b="1" dirty="0">
                <a:solidFill>
                  <a:srgbClr val="1A6B7A"/>
                </a:solidFill>
                <a:latin typeface="Calibri" pitchFamily="34" charset="0"/>
                <a:ea typeface="Calibri" pitchFamily="34" charset="-122"/>
                <a:cs typeface="Calibri" pitchFamily="34" charset="-120"/>
              </a:rPr>
              <a:t>Evaluation</a:t>
            </a:r>
            <a:endParaRPr lang="en-US" sz="1300" dirty="0"/>
          </a:p>
        </p:txBody>
      </p:sp>
      <p:sp>
        <p:nvSpPr>
          <p:cNvPr id="10" name="Text 7"/>
          <p:cNvSpPr/>
          <p:nvPr/>
        </p:nvSpPr>
        <p:spPr>
          <a:xfrm>
            <a:off x="502920" y="4023360"/>
            <a:ext cx="8138160" cy="50292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Accuracy, AUC-ROC, F1 score, sensitivity, specificity, and precision. Overfitting assessed through training vs test accuracy gap and 5-fold cross-validation.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Results — Support Vector Machine</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4114800" cy="274320"/>
          </a:xfrm>
          <a:prstGeom prst="rect">
            <a:avLst/>
          </a:prstGeom>
          <a:noFill/>
          <a:ln/>
        </p:spPr>
        <p:txBody>
          <a:bodyPr wrap="square" rtlCol="0" anchor="ctr"/>
          <a:lstStyle/>
          <a:p>
            <a:pPr marL="0" indent="0">
              <a:buNone/>
            </a:pPr>
            <a:r>
              <a:rPr lang="en-US" sz="1200" i="1" dirty="0">
                <a:solidFill>
                  <a:srgbClr val="7A92A8"/>
                </a:solidFill>
                <a:latin typeface="Calibri" pitchFamily="34" charset="0"/>
                <a:ea typeface="Calibri" pitchFamily="34" charset="-122"/>
                <a:cs typeface="Calibri" pitchFamily="34" charset="-120"/>
              </a:rPr>
              <a:t>Optimised Parameters: C=10, kernel=RBF, gamma=scale</a:t>
            </a:r>
            <a:endParaRPr lang="en-US" sz="1200" dirty="0"/>
          </a:p>
        </p:txBody>
      </p:sp>
      <p:sp>
        <p:nvSpPr>
          <p:cNvPr id="6" name="Text 3"/>
          <p:cNvSpPr/>
          <p:nvPr/>
        </p:nvSpPr>
        <p:spPr>
          <a:xfrm>
            <a:off x="502920" y="120700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Test Accuracy</a:t>
            </a:r>
            <a:endParaRPr lang="en-US" sz="1300" dirty="0"/>
          </a:p>
        </p:txBody>
      </p:sp>
      <p:sp>
        <p:nvSpPr>
          <p:cNvPr id="7" name="Text 4"/>
          <p:cNvSpPr/>
          <p:nvPr/>
        </p:nvSpPr>
        <p:spPr>
          <a:xfrm>
            <a:off x="2560320" y="1207008"/>
            <a:ext cx="1645920" cy="438912"/>
          </a:xfrm>
          <a:prstGeom prst="rect">
            <a:avLst/>
          </a:prstGeom>
          <a:noFill/>
          <a:ln/>
        </p:spPr>
        <p:txBody>
          <a:bodyPr wrap="square" rtlCol="0" anchor="ctr"/>
          <a:lstStyle/>
          <a:p>
            <a:pPr marL="0" indent="0">
              <a:buNone/>
            </a:pPr>
            <a:r>
              <a:rPr lang="en-US" sz="1600" b="1" dirty="0">
                <a:solidFill>
                  <a:srgbClr val="1A6B7A"/>
                </a:solidFill>
                <a:latin typeface="Calibri" pitchFamily="34" charset="0"/>
                <a:ea typeface="Calibri" pitchFamily="34" charset="-122"/>
                <a:cs typeface="Calibri" pitchFamily="34" charset="-120"/>
              </a:rPr>
              <a:t>91.98%</a:t>
            </a:r>
            <a:endParaRPr lang="en-US" sz="1600" dirty="0"/>
          </a:p>
        </p:txBody>
      </p:sp>
      <p:sp>
        <p:nvSpPr>
          <p:cNvPr id="8" name="Text 5"/>
          <p:cNvSpPr/>
          <p:nvPr/>
        </p:nvSpPr>
        <p:spPr>
          <a:xfrm>
            <a:off x="502920" y="175564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AUC-ROC</a:t>
            </a:r>
            <a:endParaRPr lang="en-US" sz="1300" dirty="0"/>
          </a:p>
        </p:txBody>
      </p:sp>
      <p:sp>
        <p:nvSpPr>
          <p:cNvPr id="9" name="Text 6"/>
          <p:cNvSpPr/>
          <p:nvPr/>
        </p:nvSpPr>
        <p:spPr>
          <a:xfrm>
            <a:off x="2560320" y="1755648"/>
            <a:ext cx="1645920" cy="438912"/>
          </a:xfrm>
          <a:prstGeom prst="rect">
            <a:avLst/>
          </a:prstGeom>
          <a:noFill/>
          <a:ln/>
        </p:spPr>
        <p:txBody>
          <a:bodyPr wrap="square" rtlCol="0" anchor="ctr"/>
          <a:lstStyle/>
          <a:p>
            <a:pPr marL="0" indent="0">
              <a:buNone/>
            </a:pPr>
            <a:r>
              <a:rPr lang="en-US" sz="1600" b="1" dirty="0">
                <a:solidFill>
                  <a:srgbClr val="1A6B7A"/>
                </a:solidFill>
                <a:latin typeface="Calibri" pitchFamily="34" charset="0"/>
                <a:ea typeface="Calibri" pitchFamily="34" charset="-122"/>
                <a:cs typeface="Calibri" pitchFamily="34" charset="-120"/>
              </a:rPr>
              <a:t>0.9651</a:t>
            </a:r>
            <a:endParaRPr lang="en-US" sz="1600" dirty="0"/>
          </a:p>
        </p:txBody>
      </p:sp>
      <p:sp>
        <p:nvSpPr>
          <p:cNvPr id="10" name="Text 7"/>
          <p:cNvSpPr/>
          <p:nvPr/>
        </p:nvSpPr>
        <p:spPr>
          <a:xfrm>
            <a:off x="502920" y="230428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Sensitivity</a:t>
            </a:r>
            <a:endParaRPr lang="en-US" sz="1300" dirty="0"/>
          </a:p>
        </p:txBody>
      </p:sp>
      <p:sp>
        <p:nvSpPr>
          <p:cNvPr id="11" name="Text 8"/>
          <p:cNvSpPr/>
          <p:nvPr/>
        </p:nvSpPr>
        <p:spPr>
          <a:xfrm>
            <a:off x="2560320" y="2304288"/>
            <a:ext cx="1645920" cy="438912"/>
          </a:xfrm>
          <a:prstGeom prst="rect">
            <a:avLst/>
          </a:prstGeom>
          <a:noFill/>
          <a:ln/>
        </p:spPr>
        <p:txBody>
          <a:bodyPr wrap="square" rtlCol="0" anchor="ctr"/>
          <a:lstStyle/>
          <a:p>
            <a:pPr marL="0" indent="0">
              <a:buNone/>
            </a:pPr>
            <a:r>
              <a:rPr lang="en-US" sz="1600" b="1" dirty="0">
                <a:solidFill>
                  <a:srgbClr val="1A6B7A"/>
                </a:solidFill>
                <a:latin typeface="Calibri" pitchFamily="34" charset="0"/>
                <a:ea typeface="Calibri" pitchFamily="34" charset="-122"/>
                <a:cs typeface="Calibri" pitchFamily="34" charset="-120"/>
              </a:rPr>
              <a:t>92.94%</a:t>
            </a:r>
            <a:endParaRPr lang="en-US" sz="1600" dirty="0"/>
          </a:p>
        </p:txBody>
      </p:sp>
      <p:sp>
        <p:nvSpPr>
          <p:cNvPr id="12" name="Text 9"/>
          <p:cNvSpPr/>
          <p:nvPr/>
        </p:nvSpPr>
        <p:spPr>
          <a:xfrm>
            <a:off x="502920" y="285292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Specificity</a:t>
            </a:r>
            <a:endParaRPr lang="en-US" sz="1300" dirty="0"/>
          </a:p>
        </p:txBody>
      </p:sp>
      <p:sp>
        <p:nvSpPr>
          <p:cNvPr id="13" name="Text 10"/>
          <p:cNvSpPr/>
          <p:nvPr/>
        </p:nvSpPr>
        <p:spPr>
          <a:xfrm>
            <a:off x="2560320" y="2852928"/>
            <a:ext cx="1645920" cy="438912"/>
          </a:xfrm>
          <a:prstGeom prst="rect">
            <a:avLst/>
          </a:prstGeom>
          <a:noFill/>
          <a:ln/>
        </p:spPr>
        <p:txBody>
          <a:bodyPr wrap="square" rtlCol="0" anchor="ctr"/>
          <a:lstStyle/>
          <a:p>
            <a:pPr marL="0" indent="0">
              <a:buNone/>
            </a:pPr>
            <a:r>
              <a:rPr lang="en-US" sz="1600" b="1" dirty="0">
                <a:solidFill>
                  <a:srgbClr val="1A6B7A"/>
                </a:solidFill>
                <a:latin typeface="Calibri" pitchFamily="34" charset="0"/>
                <a:ea typeface="Calibri" pitchFamily="34" charset="-122"/>
                <a:cs typeface="Calibri" pitchFamily="34" charset="-120"/>
              </a:rPr>
              <a:t>91.18%</a:t>
            </a:r>
            <a:endParaRPr lang="en-US" sz="1600" dirty="0"/>
          </a:p>
        </p:txBody>
      </p:sp>
      <p:sp>
        <p:nvSpPr>
          <p:cNvPr id="14" name="Text 11"/>
          <p:cNvSpPr/>
          <p:nvPr/>
        </p:nvSpPr>
        <p:spPr>
          <a:xfrm>
            <a:off x="502920" y="340156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F1 Score</a:t>
            </a:r>
            <a:endParaRPr lang="en-US" sz="1300" dirty="0"/>
          </a:p>
        </p:txBody>
      </p:sp>
      <p:sp>
        <p:nvSpPr>
          <p:cNvPr id="15" name="Text 12"/>
          <p:cNvSpPr/>
          <p:nvPr/>
        </p:nvSpPr>
        <p:spPr>
          <a:xfrm>
            <a:off x="2560320" y="3401568"/>
            <a:ext cx="1645920" cy="438912"/>
          </a:xfrm>
          <a:prstGeom prst="rect">
            <a:avLst/>
          </a:prstGeom>
          <a:noFill/>
          <a:ln/>
        </p:spPr>
        <p:txBody>
          <a:bodyPr wrap="square" rtlCol="0" anchor="ctr"/>
          <a:lstStyle/>
          <a:p>
            <a:pPr marL="0" indent="0">
              <a:buNone/>
            </a:pPr>
            <a:r>
              <a:rPr lang="en-US" sz="1600" b="1" dirty="0">
                <a:solidFill>
                  <a:srgbClr val="1A6B7A"/>
                </a:solidFill>
                <a:latin typeface="Calibri" pitchFamily="34" charset="0"/>
                <a:ea typeface="Calibri" pitchFamily="34" charset="-122"/>
                <a:cs typeface="Calibri" pitchFamily="34" charset="-120"/>
              </a:rPr>
              <a:t>0.9133</a:t>
            </a:r>
            <a:endParaRPr lang="en-US" sz="1600" dirty="0"/>
          </a:p>
        </p:txBody>
      </p:sp>
      <p:sp>
        <p:nvSpPr>
          <p:cNvPr id="16" name="Text 13"/>
          <p:cNvSpPr/>
          <p:nvPr/>
        </p:nvSpPr>
        <p:spPr>
          <a:xfrm>
            <a:off x="502920" y="395020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Total Errors</a:t>
            </a:r>
            <a:endParaRPr lang="en-US" sz="1300" dirty="0"/>
          </a:p>
        </p:txBody>
      </p:sp>
      <p:sp>
        <p:nvSpPr>
          <p:cNvPr id="17" name="Text 14"/>
          <p:cNvSpPr/>
          <p:nvPr/>
        </p:nvSpPr>
        <p:spPr>
          <a:xfrm>
            <a:off x="2560320" y="3950208"/>
            <a:ext cx="1645920" cy="438912"/>
          </a:xfrm>
          <a:prstGeom prst="rect">
            <a:avLst/>
          </a:prstGeom>
          <a:noFill/>
          <a:ln/>
        </p:spPr>
        <p:txBody>
          <a:bodyPr wrap="square" rtlCol="0" anchor="ctr"/>
          <a:lstStyle/>
          <a:p>
            <a:pPr marL="0" indent="0">
              <a:buNone/>
            </a:pPr>
            <a:r>
              <a:rPr lang="en-US" sz="1600" b="1" dirty="0">
                <a:solidFill>
                  <a:srgbClr val="1A6B7A"/>
                </a:solidFill>
                <a:latin typeface="Calibri" pitchFamily="34" charset="0"/>
                <a:ea typeface="Calibri" pitchFamily="34" charset="-122"/>
                <a:cs typeface="Calibri" pitchFamily="34" charset="-120"/>
              </a:rPr>
              <a:t>15 / 187</a:t>
            </a:r>
            <a:endParaRPr lang="en-US" sz="1600" dirty="0"/>
          </a:p>
        </p:txBody>
      </p:sp>
      <p:pic>
        <p:nvPicPr>
          <p:cNvPr id="18" name="Image 0" descr="preencoded.png"/>
          <p:cNvPicPr>
            <a:picLocks noChangeAspect="1"/>
          </p:cNvPicPr>
          <p:nvPr/>
        </p:nvPicPr>
        <p:blipFill>
          <a:blip r:embed="rId3"/>
          <a:stretch>
            <a:fillRect/>
          </a:stretch>
        </p:blipFill>
        <p:spPr>
          <a:xfrm>
            <a:off x="4434840" y="841248"/>
            <a:ext cx="4343400" cy="2606040"/>
          </a:xfrm>
          <a:prstGeom prst="rect">
            <a:avLst/>
          </a:prstGeom>
        </p:spPr>
      </p:pic>
      <p:sp>
        <p:nvSpPr>
          <p:cNvPr id="19" name="Text 15"/>
          <p:cNvSpPr/>
          <p:nvPr/>
        </p:nvSpPr>
        <p:spPr>
          <a:xfrm>
            <a:off x="502920" y="4224528"/>
            <a:ext cx="8229600" cy="347472"/>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Overfitting check:   Training accuracy 100.0%   |   Test accuracy 91.98%   |   Gap 8.02%   |   CV mean 85.12%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Results — Random Forest</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4114800" cy="274320"/>
          </a:xfrm>
          <a:prstGeom prst="rect">
            <a:avLst/>
          </a:prstGeom>
          <a:noFill/>
          <a:ln/>
        </p:spPr>
        <p:txBody>
          <a:bodyPr wrap="square" rtlCol="0" anchor="ctr"/>
          <a:lstStyle/>
          <a:p>
            <a:pPr marL="0" indent="0">
              <a:buNone/>
            </a:pPr>
            <a:r>
              <a:rPr lang="en-US" sz="1200" i="1" dirty="0">
                <a:solidFill>
                  <a:srgbClr val="7A92A8"/>
                </a:solidFill>
                <a:latin typeface="Calibri" pitchFamily="34" charset="0"/>
                <a:ea typeface="Calibri" pitchFamily="34" charset="-122"/>
                <a:cs typeface="Calibri" pitchFamily="34" charset="-120"/>
              </a:rPr>
              <a:t>Optimised Parameters: max_depth=20, min_samples_split=5, n_estimators=200</a:t>
            </a:r>
            <a:endParaRPr lang="en-US" sz="1200" dirty="0"/>
          </a:p>
        </p:txBody>
      </p:sp>
      <p:sp>
        <p:nvSpPr>
          <p:cNvPr id="6" name="Text 3"/>
          <p:cNvSpPr/>
          <p:nvPr/>
        </p:nvSpPr>
        <p:spPr>
          <a:xfrm>
            <a:off x="502920" y="120700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Test Accuracy</a:t>
            </a:r>
            <a:endParaRPr lang="en-US" sz="1300" dirty="0"/>
          </a:p>
        </p:txBody>
      </p:sp>
      <p:sp>
        <p:nvSpPr>
          <p:cNvPr id="7" name="Text 4"/>
          <p:cNvSpPr/>
          <p:nvPr/>
        </p:nvSpPr>
        <p:spPr>
          <a:xfrm>
            <a:off x="2560320" y="1207008"/>
            <a:ext cx="2011680" cy="438912"/>
          </a:xfrm>
          <a:prstGeom prst="rect">
            <a:avLst/>
          </a:prstGeom>
          <a:noFill/>
          <a:ln/>
        </p:spPr>
        <p:txBody>
          <a:bodyPr wrap="square" rtlCol="0" anchor="ctr"/>
          <a:lstStyle/>
          <a:p>
            <a:pPr marL="0" indent="0">
              <a:buNone/>
            </a:pPr>
            <a:r>
              <a:rPr lang="en-US" sz="1600" b="1" dirty="0">
                <a:solidFill>
                  <a:srgbClr val="2C4A6B"/>
                </a:solidFill>
                <a:latin typeface="Calibri" pitchFamily="34" charset="0"/>
                <a:ea typeface="Calibri" pitchFamily="34" charset="-122"/>
                <a:cs typeface="Calibri" pitchFamily="34" charset="-120"/>
              </a:rPr>
              <a:t>87.17%</a:t>
            </a:r>
            <a:endParaRPr lang="en-US" sz="1600" dirty="0"/>
          </a:p>
        </p:txBody>
      </p:sp>
      <p:sp>
        <p:nvSpPr>
          <p:cNvPr id="8" name="Text 5"/>
          <p:cNvSpPr/>
          <p:nvPr/>
        </p:nvSpPr>
        <p:spPr>
          <a:xfrm>
            <a:off x="502920" y="175564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AUC-ROC</a:t>
            </a:r>
            <a:endParaRPr lang="en-US" sz="1300" dirty="0"/>
          </a:p>
        </p:txBody>
      </p:sp>
      <p:sp>
        <p:nvSpPr>
          <p:cNvPr id="9" name="Text 6"/>
          <p:cNvSpPr/>
          <p:nvPr/>
        </p:nvSpPr>
        <p:spPr>
          <a:xfrm>
            <a:off x="2560320" y="1755648"/>
            <a:ext cx="2011680" cy="438912"/>
          </a:xfrm>
          <a:prstGeom prst="rect">
            <a:avLst/>
          </a:prstGeom>
          <a:noFill/>
          <a:ln/>
        </p:spPr>
        <p:txBody>
          <a:bodyPr wrap="square" rtlCol="0" anchor="ctr"/>
          <a:lstStyle/>
          <a:p>
            <a:pPr marL="0" indent="0">
              <a:buNone/>
            </a:pPr>
            <a:r>
              <a:rPr lang="en-US" sz="1600" b="1" dirty="0">
                <a:solidFill>
                  <a:srgbClr val="2C4A6B"/>
                </a:solidFill>
                <a:latin typeface="Calibri" pitchFamily="34" charset="0"/>
                <a:ea typeface="Calibri" pitchFamily="34" charset="-122"/>
                <a:cs typeface="Calibri" pitchFamily="34" charset="-120"/>
              </a:rPr>
              <a:t>0.9396</a:t>
            </a:r>
            <a:endParaRPr lang="en-US" sz="1600" dirty="0"/>
          </a:p>
        </p:txBody>
      </p:sp>
      <p:sp>
        <p:nvSpPr>
          <p:cNvPr id="10" name="Text 7"/>
          <p:cNvSpPr/>
          <p:nvPr/>
        </p:nvSpPr>
        <p:spPr>
          <a:xfrm>
            <a:off x="502920" y="230428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Sensitivity</a:t>
            </a:r>
            <a:endParaRPr lang="en-US" sz="1300" dirty="0"/>
          </a:p>
        </p:txBody>
      </p:sp>
      <p:sp>
        <p:nvSpPr>
          <p:cNvPr id="11" name="Text 8"/>
          <p:cNvSpPr/>
          <p:nvPr/>
        </p:nvSpPr>
        <p:spPr>
          <a:xfrm>
            <a:off x="2560320" y="2304288"/>
            <a:ext cx="2011680" cy="438912"/>
          </a:xfrm>
          <a:prstGeom prst="rect">
            <a:avLst/>
          </a:prstGeom>
          <a:noFill/>
          <a:ln/>
        </p:spPr>
        <p:txBody>
          <a:bodyPr wrap="square" rtlCol="0" anchor="ctr"/>
          <a:lstStyle/>
          <a:p>
            <a:pPr marL="0" indent="0">
              <a:buNone/>
            </a:pPr>
            <a:r>
              <a:rPr lang="en-US" sz="1600" b="1" dirty="0">
                <a:solidFill>
                  <a:srgbClr val="1DB3A4"/>
                </a:solidFill>
                <a:latin typeface="Calibri" pitchFamily="34" charset="0"/>
                <a:ea typeface="Calibri" pitchFamily="34" charset="-122"/>
                <a:cs typeface="Calibri" pitchFamily="34" charset="-120"/>
              </a:rPr>
              <a:t>96.47%  ★ highest</a:t>
            </a:r>
            <a:endParaRPr lang="en-US" sz="1600" dirty="0"/>
          </a:p>
        </p:txBody>
      </p:sp>
      <p:sp>
        <p:nvSpPr>
          <p:cNvPr id="12" name="Text 9"/>
          <p:cNvSpPr/>
          <p:nvPr/>
        </p:nvSpPr>
        <p:spPr>
          <a:xfrm>
            <a:off x="502920" y="285292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Specificity</a:t>
            </a:r>
            <a:endParaRPr lang="en-US" sz="1300" dirty="0"/>
          </a:p>
        </p:txBody>
      </p:sp>
      <p:sp>
        <p:nvSpPr>
          <p:cNvPr id="13" name="Text 10"/>
          <p:cNvSpPr/>
          <p:nvPr/>
        </p:nvSpPr>
        <p:spPr>
          <a:xfrm>
            <a:off x="2560320" y="2852928"/>
            <a:ext cx="2011680" cy="438912"/>
          </a:xfrm>
          <a:prstGeom prst="rect">
            <a:avLst/>
          </a:prstGeom>
          <a:noFill/>
          <a:ln/>
        </p:spPr>
        <p:txBody>
          <a:bodyPr wrap="square" rtlCol="0" anchor="ctr"/>
          <a:lstStyle/>
          <a:p>
            <a:pPr marL="0" indent="0">
              <a:buNone/>
            </a:pPr>
            <a:r>
              <a:rPr lang="en-US" sz="1600" b="1" dirty="0">
                <a:solidFill>
                  <a:srgbClr val="2C4A6B"/>
                </a:solidFill>
                <a:latin typeface="Calibri" pitchFamily="34" charset="0"/>
                <a:ea typeface="Calibri" pitchFamily="34" charset="-122"/>
                <a:cs typeface="Calibri" pitchFamily="34" charset="-120"/>
              </a:rPr>
              <a:t>79.41%</a:t>
            </a:r>
            <a:endParaRPr lang="en-US" sz="1600" dirty="0"/>
          </a:p>
        </p:txBody>
      </p:sp>
      <p:sp>
        <p:nvSpPr>
          <p:cNvPr id="14" name="Text 11"/>
          <p:cNvSpPr/>
          <p:nvPr/>
        </p:nvSpPr>
        <p:spPr>
          <a:xfrm>
            <a:off x="502920" y="340156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F1 Score</a:t>
            </a:r>
            <a:endParaRPr lang="en-US" sz="1300" dirty="0"/>
          </a:p>
        </p:txBody>
      </p:sp>
      <p:sp>
        <p:nvSpPr>
          <p:cNvPr id="15" name="Text 12"/>
          <p:cNvSpPr/>
          <p:nvPr/>
        </p:nvSpPr>
        <p:spPr>
          <a:xfrm>
            <a:off x="2560320" y="3401568"/>
            <a:ext cx="2011680" cy="438912"/>
          </a:xfrm>
          <a:prstGeom prst="rect">
            <a:avLst/>
          </a:prstGeom>
          <a:noFill/>
          <a:ln/>
        </p:spPr>
        <p:txBody>
          <a:bodyPr wrap="square" rtlCol="0" anchor="ctr"/>
          <a:lstStyle/>
          <a:p>
            <a:pPr marL="0" indent="0">
              <a:buNone/>
            </a:pPr>
            <a:r>
              <a:rPr lang="en-US" sz="1600" b="1" dirty="0">
                <a:solidFill>
                  <a:srgbClr val="2C4A6B"/>
                </a:solidFill>
                <a:latin typeface="Calibri" pitchFamily="34" charset="0"/>
                <a:ea typeface="Calibri" pitchFamily="34" charset="-122"/>
                <a:cs typeface="Calibri" pitchFamily="34" charset="-120"/>
              </a:rPr>
              <a:t>0.8723</a:t>
            </a:r>
            <a:endParaRPr lang="en-US" sz="1600" dirty="0"/>
          </a:p>
        </p:txBody>
      </p:sp>
      <p:sp>
        <p:nvSpPr>
          <p:cNvPr id="16" name="Text 13"/>
          <p:cNvSpPr/>
          <p:nvPr/>
        </p:nvSpPr>
        <p:spPr>
          <a:xfrm>
            <a:off x="502920" y="3950208"/>
            <a:ext cx="2011680" cy="438912"/>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Total Errors</a:t>
            </a:r>
            <a:endParaRPr lang="en-US" sz="1300" dirty="0"/>
          </a:p>
        </p:txBody>
      </p:sp>
      <p:sp>
        <p:nvSpPr>
          <p:cNvPr id="17" name="Text 14"/>
          <p:cNvSpPr/>
          <p:nvPr/>
        </p:nvSpPr>
        <p:spPr>
          <a:xfrm>
            <a:off x="2560320" y="3950208"/>
            <a:ext cx="2011680" cy="438912"/>
          </a:xfrm>
          <a:prstGeom prst="rect">
            <a:avLst/>
          </a:prstGeom>
          <a:noFill/>
          <a:ln/>
        </p:spPr>
        <p:txBody>
          <a:bodyPr wrap="square" rtlCol="0" anchor="ctr"/>
          <a:lstStyle/>
          <a:p>
            <a:pPr marL="0" indent="0">
              <a:buNone/>
            </a:pPr>
            <a:r>
              <a:rPr lang="en-US" sz="1600" b="1" dirty="0">
                <a:solidFill>
                  <a:srgbClr val="2C4A6B"/>
                </a:solidFill>
                <a:latin typeface="Calibri" pitchFamily="34" charset="0"/>
                <a:ea typeface="Calibri" pitchFamily="34" charset="-122"/>
                <a:cs typeface="Calibri" pitchFamily="34" charset="-120"/>
              </a:rPr>
              <a:t>24 / 187</a:t>
            </a:r>
            <a:endParaRPr lang="en-US" sz="1600" dirty="0"/>
          </a:p>
        </p:txBody>
      </p:sp>
      <p:pic>
        <p:nvPicPr>
          <p:cNvPr id="18" name="Image 0" descr="preencoded.png"/>
          <p:cNvPicPr>
            <a:picLocks noChangeAspect="1"/>
          </p:cNvPicPr>
          <p:nvPr/>
        </p:nvPicPr>
        <p:blipFill>
          <a:blip r:embed="rId3"/>
          <a:stretch>
            <a:fillRect/>
          </a:stretch>
        </p:blipFill>
        <p:spPr>
          <a:xfrm>
            <a:off x="4434840" y="841248"/>
            <a:ext cx="4343400" cy="2606040"/>
          </a:xfrm>
          <a:prstGeom prst="rect">
            <a:avLst/>
          </a:prstGeom>
        </p:spPr>
      </p:pic>
      <p:sp>
        <p:nvSpPr>
          <p:cNvPr id="19" name="Text 15"/>
          <p:cNvSpPr/>
          <p:nvPr/>
        </p:nvSpPr>
        <p:spPr>
          <a:xfrm>
            <a:off x="502920" y="4224528"/>
            <a:ext cx="8229600" cy="347472"/>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Overfitting check:   Training accuracy 100.0%   |   Test accuracy 87.17%   |   Gap 12.83%   |   CV mean 85.12%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marL="0" indent="0" algn="l">
              <a:buNone/>
            </a:pPr>
            <a:r>
              <a:rPr lang="en-US" sz="2600" b="1" dirty="0">
                <a:solidFill>
                  <a:srgbClr val="0B1F3A"/>
                </a:solidFill>
                <a:latin typeface="Calibri" pitchFamily="34" charset="0"/>
                <a:ea typeface="Calibri" pitchFamily="34" charset="-122"/>
                <a:cs typeface="Calibri" pitchFamily="34" charset="-120"/>
              </a:rPr>
              <a:t>Results — Classical ML vs Deep Learning</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365760" y="896112"/>
            <a:ext cx="2377440" cy="438912"/>
          </a:xfrm>
          <a:prstGeom prst="rect">
            <a:avLst/>
          </a:prstGeom>
          <a:solidFill>
            <a:srgbClr val="0B1F3A"/>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6" name="Text 3"/>
          <p:cNvSpPr/>
          <p:nvPr/>
        </p:nvSpPr>
        <p:spPr>
          <a:xfrm>
            <a:off x="2743200" y="896112"/>
            <a:ext cx="1645920" cy="438912"/>
          </a:xfrm>
          <a:prstGeom prst="rect">
            <a:avLst/>
          </a:prstGeom>
          <a:solidFill>
            <a:srgbClr val="0B1F3A"/>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Type</a:t>
            </a:r>
            <a:endParaRPr lang="en-US" sz="1200" dirty="0"/>
          </a:p>
        </p:txBody>
      </p:sp>
      <p:sp>
        <p:nvSpPr>
          <p:cNvPr id="7" name="Text 4"/>
          <p:cNvSpPr/>
          <p:nvPr/>
        </p:nvSpPr>
        <p:spPr>
          <a:xfrm>
            <a:off x="4389120" y="896112"/>
            <a:ext cx="1371600" cy="438912"/>
          </a:xfrm>
          <a:prstGeom prst="rect">
            <a:avLst/>
          </a:prstGeom>
          <a:solidFill>
            <a:srgbClr val="0B1F3A"/>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p>
        </p:txBody>
      </p:sp>
      <p:sp>
        <p:nvSpPr>
          <p:cNvPr id="8" name="Text 5"/>
          <p:cNvSpPr/>
          <p:nvPr/>
        </p:nvSpPr>
        <p:spPr>
          <a:xfrm>
            <a:off x="5760720" y="896112"/>
            <a:ext cx="1371600" cy="438912"/>
          </a:xfrm>
          <a:prstGeom prst="rect">
            <a:avLst/>
          </a:prstGeom>
          <a:solidFill>
            <a:srgbClr val="0B1F3A"/>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AUC-ROC</a:t>
            </a:r>
            <a:endParaRPr lang="en-US" sz="1200" dirty="0"/>
          </a:p>
        </p:txBody>
      </p:sp>
      <p:sp>
        <p:nvSpPr>
          <p:cNvPr id="9" name="Text 6"/>
          <p:cNvSpPr/>
          <p:nvPr/>
        </p:nvSpPr>
        <p:spPr>
          <a:xfrm>
            <a:off x="7132320" y="896112"/>
            <a:ext cx="1371600" cy="438912"/>
          </a:xfrm>
          <a:prstGeom prst="rect">
            <a:avLst/>
          </a:prstGeom>
          <a:solidFill>
            <a:srgbClr val="0B1F3A"/>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Sensitivity</a:t>
            </a:r>
            <a:endParaRPr lang="en-US" sz="1200" dirty="0"/>
          </a:p>
        </p:txBody>
      </p:sp>
      <p:sp>
        <p:nvSpPr>
          <p:cNvPr id="10" name="Text 7"/>
          <p:cNvSpPr/>
          <p:nvPr/>
        </p:nvSpPr>
        <p:spPr>
          <a:xfrm>
            <a:off x="365760" y="1371600"/>
            <a:ext cx="237744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SVM</a:t>
            </a:r>
            <a:endParaRPr lang="en-US" sz="1300" dirty="0"/>
          </a:p>
        </p:txBody>
      </p:sp>
      <p:sp>
        <p:nvSpPr>
          <p:cNvPr id="11" name="Text 8"/>
          <p:cNvSpPr/>
          <p:nvPr/>
        </p:nvSpPr>
        <p:spPr>
          <a:xfrm>
            <a:off x="2743200" y="1371600"/>
            <a:ext cx="164592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Classical ML</a:t>
            </a:r>
            <a:endParaRPr lang="en-US" sz="1300" dirty="0"/>
          </a:p>
        </p:txBody>
      </p:sp>
      <p:sp>
        <p:nvSpPr>
          <p:cNvPr id="12" name="Text 9"/>
          <p:cNvSpPr/>
          <p:nvPr/>
        </p:nvSpPr>
        <p:spPr>
          <a:xfrm>
            <a:off x="4389120" y="1371600"/>
            <a:ext cx="137160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91.98%</a:t>
            </a:r>
            <a:endParaRPr lang="en-US" sz="1300" dirty="0"/>
          </a:p>
        </p:txBody>
      </p:sp>
      <p:sp>
        <p:nvSpPr>
          <p:cNvPr id="13" name="Text 10"/>
          <p:cNvSpPr/>
          <p:nvPr/>
        </p:nvSpPr>
        <p:spPr>
          <a:xfrm>
            <a:off x="5760720" y="1371600"/>
            <a:ext cx="137160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0.9651</a:t>
            </a:r>
            <a:endParaRPr lang="en-US" sz="1300" dirty="0"/>
          </a:p>
        </p:txBody>
      </p:sp>
      <p:sp>
        <p:nvSpPr>
          <p:cNvPr id="14" name="Text 11"/>
          <p:cNvSpPr/>
          <p:nvPr/>
        </p:nvSpPr>
        <p:spPr>
          <a:xfrm>
            <a:off x="7132320" y="1371600"/>
            <a:ext cx="137160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92.94%</a:t>
            </a:r>
            <a:endParaRPr lang="en-US" sz="1300" dirty="0"/>
          </a:p>
        </p:txBody>
      </p:sp>
      <p:sp>
        <p:nvSpPr>
          <p:cNvPr id="15" name="Text 12"/>
          <p:cNvSpPr/>
          <p:nvPr/>
        </p:nvSpPr>
        <p:spPr>
          <a:xfrm>
            <a:off x="365760" y="1847088"/>
            <a:ext cx="237744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Random Forest</a:t>
            </a:r>
            <a:endParaRPr lang="en-US" sz="1300" dirty="0"/>
          </a:p>
        </p:txBody>
      </p:sp>
      <p:sp>
        <p:nvSpPr>
          <p:cNvPr id="16" name="Text 13"/>
          <p:cNvSpPr/>
          <p:nvPr/>
        </p:nvSpPr>
        <p:spPr>
          <a:xfrm>
            <a:off x="2743200" y="1847088"/>
            <a:ext cx="164592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Classical ML</a:t>
            </a:r>
            <a:endParaRPr lang="en-US" sz="1300" dirty="0"/>
          </a:p>
        </p:txBody>
      </p:sp>
      <p:sp>
        <p:nvSpPr>
          <p:cNvPr id="17" name="Text 14"/>
          <p:cNvSpPr/>
          <p:nvPr/>
        </p:nvSpPr>
        <p:spPr>
          <a:xfrm>
            <a:off x="4389120" y="1847088"/>
            <a:ext cx="137160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87.17%</a:t>
            </a:r>
            <a:endParaRPr lang="en-US" sz="1300" dirty="0"/>
          </a:p>
        </p:txBody>
      </p:sp>
      <p:sp>
        <p:nvSpPr>
          <p:cNvPr id="18" name="Text 15"/>
          <p:cNvSpPr/>
          <p:nvPr/>
        </p:nvSpPr>
        <p:spPr>
          <a:xfrm>
            <a:off x="5760720" y="1847088"/>
            <a:ext cx="137160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0.9396</a:t>
            </a:r>
            <a:endParaRPr lang="en-US" sz="1300" dirty="0"/>
          </a:p>
        </p:txBody>
      </p:sp>
      <p:sp>
        <p:nvSpPr>
          <p:cNvPr id="19" name="Text 16"/>
          <p:cNvSpPr/>
          <p:nvPr/>
        </p:nvSpPr>
        <p:spPr>
          <a:xfrm>
            <a:off x="7132320" y="1847088"/>
            <a:ext cx="1371600" cy="438912"/>
          </a:xfrm>
          <a:prstGeom prst="rect">
            <a:avLst/>
          </a:prstGeom>
          <a:solidFill>
            <a:srgbClr val="EEF3F7"/>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96.47% ★</a:t>
            </a:r>
            <a:endParaRPr lang="en-US" sz="1300" dirty="0"/>
          </a:p>
        </p:txBody>
      </p:sp>
      <p:sp>
        <p:nvSpPr>
          <p:cNvPr id="20" name="Text 17"/>
          <p:cNvSpPr/>
          <p:nvPr/>
        </p:nvSpPr>
        <p:spPr>
          <a:xfrm>
            <a:off x="365760" y="2322576"/>
            <a:ext cx="237744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Baseline CNN †</a:t>
            </a:r>
            <a:endParaRPr lang="en-US" sz="1300" dirty="0"/>
          </a:p>
        </p:txBody>
      </p:sp>
      <p:sp>
        <p:nvSpPr>
          <p:cNvPr id="21" name="Text 18"/>
          <p:cNvSpPr/>
          <p:nvPr/>
        </p:nvSpPr>
        <p:spPr>
          <a:xfrm>
            <a:off x="2743200" y="2322576"/>
            <a:ext cx="164592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Deep Learning</a:t>
            </a:r>
            <a:endParaRPr lang="en-US" sz="1300" dirty="0"/>
          </a:p>
        </p:txBody>
      </p:sp>
      <p:sp>
        <p:nvSpPr>
          <p:cNvPr id="22" name="Text 19"/>
          <p:cNvSpPr/>
          <p:nvPr/>
        </p:nvSpPr>
        <p:spPr>
          <a:xfrm>
            <a:off x="4389120" y="2322576"/>
            <a:ext cx="137160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87.86%</a:t>
            </a:r>
            <a:endParaRPr lang="en-US" sz="1300" dirty="0"/>
          </a:p>
        </p:txBody>
      </p:sp>
      <p:sp>
        <p:nvSpPr>
          <p:cNvPr id="23" name="Text 20"/>
          <p:cNvSpPr/>
          <p:nvPr/>
        </p:nvSpPr>
        <p:spPr>
          <a:xfrm>
            <a:off x="5760720" y="2322576"/>
            <a:ext cx="137160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0.9588</a:t>
            </a:r>
            <a:endParaRPr lang="en-US" sz="1300" dirty="0"/>
          </a:p>
        </p:txBody>
      </p:sp>
      <p:sp>
        <p:nvSpPr>
          <p:cNvPr id="24" name="Text 21"/>
          <p:cNvSpPr/>
          <p:nvPr/>
        </p:nvSpPr>
        <p:spPr>
          <a:xfrm>
            <a:off x="7132320" y="2322576"/>
            <a:ext cx="137160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95.24%</a:t>
            </a:r>
            <a:endParaRPr lang="en-US" sz="1300" dirty="0"/>
          </a:p>
        </p:txBody>
      </p:sp>
      <p:sp>
        <p:nvSpPr>
          <p:cNvPr id="25" name="Text 22"/>
          <p:cNvSpPr/>
          <p:nvPr/>
        </p:nvSpPr>
        <p:spPr>
          <a:xfrm>
            <a:off x="365760" y="2798064"/>
            <a:ext cx="237744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EfficientNet-B0 †</a:t>
            </a:r>
            <a:endParaRPr lang="en-US" sz="1300" dirty="0"/>
          </a:p>
        </p:txBody>
      </p:sp>
      <p:sp>
        <p:nvSpPr>
          <p:cNvPr id="26" name="Text 23"/>
          <p:cNvSpPr/>
          <p:nvPr/>
        </p:nvSpPr>
        <p:spPr>
          <a:xfrm>
            <a:off x="2743200" y="2798064"/>
            <a:ext cx="164592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Deep Learning</a:t>
            </a:r>
            <a:endParaRPr lang="en-US" sz="1300" dirty="0"/>
          </a:p>
        </p:txBody>
      </p:sp>
      <p:sp>
        <p:nvSpPr>
          <p:cNvPr id="27" name="Text 24"/>
          <p:cNvSpPr/>
          <p:nvPr/>
        </p:nvSpPr>
        <p:spPr>
          <a:xfrm>
            <a:off x="4389120" y="2798064"/>
            <a:ext cx="137160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96.43%</a:t>
            </a:r>
            <a:endParaRPr lang="en-US" sz="1300" dirty="0"/>
          </a:p>
        </p:txBody>
      </p:sp>
      <p:sp>
        <p:nvSpPr>
          <p:cNvPr id="28" name="Text 25"/>
          <p:cNvSpPr/>
          <p:nvPr/>
        </p:nvSpPr>
        <p:spPr>
          <a:xfrm>
            <a:off x="5760720" y="2798064"/>
            <a:ext cx="137160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0.9951</a:t>
            </a:r>
            <a:endParaRPr lang="en-US" sz="1300" dirty="0"/>
          </a:p>
        </p:txBody>
      </p:sp>
      <p:sp>
        <p:nvSpPr>
          <p:cNvPr id="29" name="Text 26"/>
          <p:cNvSpPr/>
          <p:nvPr/>
        </p:nvSpPr>
        <p:spPr>
          <a:xfrm>
            <a:off x="7132320" y="2798064"/>
            <a:ext cx="1371600" cy="438912"/>
          </a:xfrm>
          <a:prstGeom prst="rect">
            <a:avLst/>
          </a:prstGeom>
          <a:solidFill>
            <a:srgbClr val="FFF3E0"/>
          </a:solidFill>
          <a:ln/>
        </p:spPr>
        <p:txBody>
          <a:bodyPr wrap="square" rtlCol="0" anchor="ctr"/>
          <a:lstStyle/>
          <a:p>
            <a:pPr marL="0" indent="0" algn="ctr">
              <a:buNone/>
            </a:pPr>
            <a:r>
              <a:rPr lang="en-US" sz="1300" dirty="0">
                <a:solidFill>
                  <a:srgbClr val="0B1F3A"/>
                </a:solidFill>
                <a:latin typeface="Calibri" pitchFamily="34" charset="0"/>
                <a:ea typeface="Calibri" pitchFamily="34" charset="-122"/>
                <a:cs typeface="Calibri" pitchFamily="34" charset="-120"/>
              </a:rPr>
              <a:t>95.24%</a:t>
            </a:r>
            <a:endParaRPr lang="en-US" sz="1300" dirty="0"/>
          </a:p>
        </p:txBody>
      </p:sp>
      <p:sp>
        <p:nvSpPr>
          <p:cNvPr id="30" name="Text 27"/>
          <p:cNvSpPr/>
          <p:nvPr/>
        </p:nvSpPr>
        <p:spPr>
          <a:xfrm>
            <a:off x="365760" y="3273552"/>
            <a:ext cx="2377440" cy="438912"/>
          </a:xfrm>
          <a:prstGeom prst="rect">
            <a:avLst/>
          </a:prstGeom>
          <a:solidFill>
            <a:srgbClr val="1A6B7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ResNet-50 †</a:t>
            </a:r>
            <a:endParaRPr lang="en-US" sz="1300" dirty="0"/>
          </a:p>
        </p:txBody>
      </p:sp>
      <p:sp>
        <p:nvSpPr>
          <p:cNvPr id="31" name="Text 28"/>
          <p:cNvSpPr/>
          <p:nvPr/>
        </p:nvSpPr>
        <p:spPr>
          <a:xfrm>
            <a:off x="2743200" y="3273552"/>
            <a:ext cx="1645920" cy="438912"/>
          </a:xfrm>
          <a:prstGeom prst="rect">
            <a:avLst/>
          </a:prstGeom>
          <a:solidFill>
            <a:srgbClr val="1A6B7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Deep Learning</a:t>
            </a:r>
            <a:endParaRPr lang="en-US" sz="1300" dirty="0"/>
          </a:p>
        </p:txBody>
      </p:sp>
      <p:sp>
        <p:nvSpPr>
          <p:cNvPr id="32" name="Text 29"/>
          <p:cNvSpPr/>
          <p:nvPr/>
        </p:nvSpPr>
        <p:spPr>
          <a:xfrm>
            <a:off x="4389120" y="3273552"/>
            <a:ext cx="1371600" cy="438912"/>
          </a:xfrm>
          <a:prstGeom prst="rect">
            <a:avLst/>
          </a:prstGeom>
          <a:solidFill>
            <a:srgbClr val="1A6B7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98.57% ★</a:t>
            </a:r>
            <a:endParaRPr lang="en-US" sz="1300" dirty="0"/>
          </a:p>
        </p:txBody>
      </p:sp>
      <p:sp>
        <p:nvSpPr>
          <p:cNvPr id="33" name="Text 30"/>
          <p:cNvSpPr/>
          <p:nvPr/>
        </p:nvSpPr>
        <p:spPr>
          <a:xfrm>
            <a:off x="5760720" y="3273552"/>
            <a:ext cx="1371600" cy="438912"/>
          </a:xfrm>
          <a:prstGeom prst="rect">
            <a:avLst/>
          </a:prstGeom>
          <a:solidFill>
            <a:srgbClr val="1A6B7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0.9973 ★</a:t>
            </a:r>
            <a:endParaRPr lang="en-US" sz="1300" dirty="0"/>
          </a:p>
        </p:txBody>
      </p:sp>
      <p:sp>
        <p:nvSpPr>
          <p:cNvPr id="34" name="Text 31"/>
          <p:cNvSpPr/>
          <p:nvPr/>
        </p:nvSpPr>
        <p:spPr>
          <a:xfrm>
            <a:off x="7132320" y="3273552"/>
            <a:ext cx="1371600" cy="438912"/>
          </a:xfrm>
          <a:prstGeom prst="rect">
            <a:avLst/>
          </a:prstGeom>
          <a:solidFill>
            <a:srgbClr val="1A6B7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98.41% ★</a:t>
            </a:r>
            <a:endParaRPr lang="en-US" sz="1300" dirty="0"/>
          </a:p>
        </p:txBody>
      </p:sp>
      <p:sp>
        <p:nvSpPr>
          <p:cNvPr id="35" name="Text 32"/>
          <p:cNvSpPr/>
          <p:nvPr/>
        </p:nvSpPr>
        <p:spPr>
          <a:xfrm>
            <a:off x="365760" y="3730752"/>
            <a:ext cx="8229600" cy="256032"/>
          </a:xfrm>
          <a:prstGeom prst="rect">
            <a:avLst/>
          </a:prstGeom>
          <a:noFill/>
          <a:ln/>
        </p:spPr>
        <p:txBody>
          <a:bodyPr wrap="square" rtlCol="0" anchor="ctr"/>
          <a:lstStyle/>
          <a:p>
            <a:pPr marL="0" indent="0">
              <a:buNone/>
            </a:pPr>
            <a:r>
              <a:rPr lang="en-US" sz="1000" i="1" dirty="0">
                <a:solidFill>
                  <a:srgbClr val="7A92A8"/>
                </a:solidFill>
                <a:latin typeface="Calibri" pitchFamily="34" charset="0"/>
                <a:ea typeface="Calibri" pitchFamily="34" charset="-122"/>
                <a:cs typeface="Calibri" pitchFamily="34" charset="-120"/>
              </a:rPr>
              <a:t>† Results from prior deep learning study: github.com/Patro331/sickle-cell-detection</a:t>
            </a:r>
            <a:endParaRPr lang="en-US" sz="1000" dirty="0"/>
          </a:p>
        </p:txBody>
      </p:sp>
      <p:pic>
        <p:nvPicPr>
          <p:cNvPr id="36" name="Image 0" descr="preencoded.png"/>
          <p:cNvPicPr>
            <a:picLocks noChangeAspect="1"/>
          </p:cNvPicPr>
          <p:nvPr/>
        </p:nvPicPr>
        <p:blipFill>
          <a:blip r:embed="rId3"/>
          <a:stretch>
            <a:fillRect/>
          </a:stretch>
        </p:blipFill>
        <p:spPr>
          <a:xfrm>
            <a:off x="365760" y="4041648"/>
            <a:ext cx="8412480" cy="10241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3" name="Shape 0"/>
          <p:cNvSpPr/>
          <p:nvPr/>
        </p:nvSpPr>
        <p:spPr>
          <a:xfrm>
            <a:off x="-731520" y="3200400"/>
            <a:ext cx="3657600" cy="3657600"/>
          </a:xfrm>
          <a:prstGeom prst="ellipse">
            <a:avLst/>
          </a:prstGeom>
          <a:solidFill>
            <a:srgbClr val="1A6B7A">
              <a:alpha val="12000"/>
            </a:srgbClr>
          </a:solidFill>
          <a:ln w="12700">
            <a:solidFill>
              <a:srgbClr val="1A6B7A">
                <a:alpha val="16000"/>
              </a:srgbClr>
            </a:solidFill>
            <a:prstDash val="solid"/>
          </a:ln>
        </p:spPr>
      </p:sp>
      <p:sp>
        <p:nvSpPr>
          <p:cNvPr id="4" name="Text 1"/>
          <p:cNvSpPr/>
          <p:nvPr/>
        </p:nvSpPr>
        <p:spPr>
          <a:xfrm>
            <a:off x="502920" y="201168"/>
            <a:ext cx="8229600" cy="502920"/>
          </a:xfrm>
          <a:prstGeom prst="rect">
            <a:avLst/>
          </a:prstGeom>
          <a:noFill/>
          <a:ln/>
        </p:spPr>
        <p:txBody>
          <a:bodyPr wrap="square" rtlCol="0" anchor="ctr"/>
          <a:lstStyle/>
          <a:p>
            <a:pPr marL="0" indent="0">
              <a:buNone/>
            </a:pPr>
            <a:r>
              <a:rPr lang="en-US" sz="3000" b="1" dirty="0">
                <a:solidFill>
                  <a:srgbClr val="1DB3A4"/>
                </a:solidFill>
                <a:latin typeface="Calibri" pitchFamily="34" charset="0"/>
                <a:ea typeface="Calibri" pitchFamily="34" charset="-122"/>
                <a:cs typeface="Calibri" pitchFamily="34" charset="-120"/>
              </a:rPr>
              <a:t>Conclusion</a:t>
            </a:r>
            <a:endParaRPr lang="en-US" sz="3000" dirty="0"/>
          </a:p>
        </p:txBody>
      </p:sp>
      <p:sp>
        <p:nvSpPr>
          <p:cNvPr id="5" name="Text 2"/>
          <p:cNvSpPr/>
          <p:nvPr/>
        </p:nvSpPr>
        <p:spPr>
          <a:xfrm>
            <a:off x="502920" y="868680"/>
            <a:ext cx="8138160" cy="658368"/>
          </a:xfrm>
          <a:prstGeom prst="rect">
            <a:avLst/>
          </a:prstGeom>
          <a:noFill/>
          <a:ln/>
        </p:spPr>
        <p:txBody>
          <a:bodyPr wrap="square" rtlCol="0" anchor="ctr"/>
          <a:lstStyle/>
          <a:p>
            <a:pPr marL="0" indent="0">
              <a:spcAft>
                <a:spcPts val="400"/>
              </a:spcAft>
              <a:buNone/>
            </a:pPr>
            <a:r>
              <a:rPr lang="en-US" sz="1350" dirty="0">
                <a:solidFill>
                  <a:srgbClr val="FFFFFF"/>
                </a:solidFill>
                <a:latin typeface="Calibri" pitchFamily="34" charset="0"/>
                <a:ea typeface="Calibri" pitchFamily="34" charset="-122"/>
                <a:cs typeface="Calibri" pitchFamily="34" charset="-120"/>
              </a:rPr>
              <a:t>1.  First classical ML study applied to the Tushabe (2024) Ugandan clinical mobile-phone microscopy dataset</a:t>
            </a:r>
            <a:endParaRPr lang="en-US" sz="1350" dirty="0"/>
          </a:p>
        </p:txBody>
      </p:sp>
      <p:sp>
        <p:nvSpPr>
          <p:cNvPr id="6" name="Text 3"/>
          <p:cNvSpPr/>
          <p:nvPr/>
        </p:nvSpPr>
        <p:spPr>
          <a:xfrm>
            <a:off x="502920" y="1636776"/>
            <a:ext cx="8138160" cy="658368"/>
          </a:xfrm>
          <a:prstGeom prst="rect">
            <a:avLst/>
          </a:prstGeom>
          <a:noFill/>
          <a:ln/>
        </p:spPr>
        <p:txBody>
          <a:bodyPr wrap="square" rtlCol="0" anchor="ctr"/>
          <a:lstStyle/>
          <a:p>
            <a:pPr marL="0" indent="0">
              <a:spcAft>
                <a:spcPts val="400"/>
              </a:spcAft>
              <a:buNone/>
            </a:pPr>
            <a:r>
              <a:rPr lang="en-US" sz="1350" dirty="0">
                <a:solidFill>
                  <a:srgbClr val="FFFFFF"/>
                </a:solidFill>
                <a:latin typeface="Calibri" pitchFamily="34" charset="0"/>
                <a:ea typeface="Calibri" pitchFamily="34" charset="-122"/>
                <a:cs typeface="Calibri" pitchFamily="34" charset="-120"/>
              </a:rPr>
              <a:t>2.  SVM achieves 91.98% accuracy and AUC-ROC of 0.9651 — clinically useful results without GPU infrastructure</a:t>
            </a:r>
            <a:endParaRPr lang="en-US" sz="1350" dirty="0"/>
          </a:p>
        </p:txBody>
      </p:sp>
      <p:sp>
        <p:nvSpPr>
          <p:cNvPr id="7" name="Text 4"/>
          <p:cNvSpPr/>
          <p:nvPr/>
        </p:nvSpPr>
        <p:spPr>
          <a:xfrm>
            <a:off x="502920" y="2404872"/>
            <a:ext cx="8138160" cy="658368"/>
          </a:xfrm>
          <a:prstGeom prst="rect">
            <a:avLst/>
          </a:prstGeom>
          <a:noFill/>
          <a:ln/>
        </p:spPr>
        <p:txBody>
          <a:bodyPr wrap="square" rtlCol="0" anchor="ctr"/>
          <a:lstStyle/>
          <a:p>
            <a:pPr marL="0" indent="0">
              <a:spcAft>
                <a:spcPts val="400"/>
              </a:spcAft>
              <a:buNone/>
            </a:pPr>
            <a:r>
              <a:rPr lang="en-US" sz="1350" dirty="0">
                <a:solidFill>
                  <a:srgbClr val="FFFFFF"/>
                </a:solidFill>
                <a:latin typeface="Calibri" pitchFamily="34" charset="0"/>
                <a:ea typeface="Calibri" pitchFamily="34" charset="-122"/>
                <a:cs typeface="Calibri" pitchFamily="34" charset="-120"/>
              </a:rPr>
              <a:t>3.  Random Forest achieves the highest sensitivity of 96.47% — fewest missed sickle cell cases</a:t>
            </a:r>
            <a:endParaRPr lang="en-US" sz="1350" dirty="0"/>
          </a:p>
        </p:txBody>
      </p:sp>
      <p:sp>
        <p:nvSpPr>
          <p:cNvPr id="8" name="Text 5"/>
          <p:cNvSpPr/>
          <p:nvPr/>
        </p:nvSpPr>
        <p:spPr>
          <a:xfrm>
            <a:off x="502920" y="3172968"/>
            <a:ext cx="8138160" cy="658368"/>
          </a:xfrm>
          <a:prstGeom prst="rect">
            <a:avLst/>
          </a:prstGeom>
          <a:noFill/>
          <a:ln/>
        </p:spPr>
        <p:txBody>
          <a:bodyPr wrap="square" rtlCol="0" anchor="ctr"/>
          <a:lstStyle/>
          <a:p>
            <a:pPr marL="0" indent="0">
              <a:spcAft>
                <a:spcPts val="400"/>
              </a:spcAft>
              <a:buNone/>
            </a:pPr>
            <a:r>
              <a:rPr lang="en-US" sz="1350" dirty="0">
                <a:solidFill>
                  <a:srgbClr val="FFFFFF"/>
                </a:solidFill>
                <a:latin typeface="Calibri" pitchFamily="34" charset="0"/>
                <a:ea typeface="Calibri" pitchFamily="34" charset="-122"/>
                <a:cs typeface="Calibri" pitchFamily="34" charset="-120"/>
              </a:rPr>
              <a:t>4.  Deep learning (ResNet-50, 98.57%) significantly outperforms classical ML and should be preferred where GPU is available</a:t>
            </a:r>
            <a:endParaRPr lang="en-US" sz="1350" dirty="0"/>
          </a:p>
        </p:txBody>
      </p:sp>
      <p:sp>
        <p:nvSpPr>
          <p:cNvPr id="9" name="Text 6"/>
          <p:cNvSpPr/>
          <p:nvPr/>
        </p:nvSpPr>
        <p:spPr>
          <a:xfrm>
            <a:off x="502920" y="3941064"/>
            <a:ext cx="8138160" cy="658368"/>
          </a:xfrm>
          <a:prstGeom prst="rect">
            <a:avLst/>
          </a:prstGeom>
          <a:noFill/>
          <a:ln/>
        </p:spPr>
        <p:txBody>
          <a:bodyPr wrap="square" rtlCol="0" anchor="ctr"/>
          <a:lstStyle/>
          <a:p>
            <a:pPr marL="0" indent="0">
              <a:spcAft>
                <a:spcPts val="400"/>
              </a:spcAft>
              <a:buNone/>
            </a:pPr>
            <a:r>
              <a:rPr lang="en-US" sz="1350" dirty="0">
                <a:solidFill>
                  <a:srgbClr val="FFFFFF"/>
                </a:solidFill>
                <a:latin typeface="Calibri" pitchFamily="34" charset="0"/>
                <a:ea typeface="Calibri" pitchFamily="34" charset="-122"/>
                <a:cs typeface="Calibri" pitchFamily="34" charset="-120"/>
              </a:rPr>
              <a:t>5.  Where GPU infrastructure is absent, SVM with HOG features offers a deployable, low-resource screening tool for rural Uganda</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6B7A"/>
        </a:solidFill>
        <a:effectLst/>
      </p:bgPr>
    </p:bg>
    <p:spTree>
      <p:nvGrpSpPr>
        <p:cNvPr id="1" name=""/>
        <p:cNvGrpSpPr/>
        <p:nvPr/>
      </p:nvGrpSpPr>
      <p:grpSpPr>
        <a:xfrm>
          <a:off x="0" y="0"/>
          <a:ext cx="0" cy="0"/>
          <a:chOff x="0" y="0"/>
          <a:chExt cx="0" cy="0"/>
        </a:xfrm>
      </p:grpSpPr>
      <p:sp>
        <p:nvSpPr>
          <p:cNvPr id="3" name="Shape 0"/>
          <p:cNvSpPr/>
          <p:nvPr/>
        </p:nvSpPr>
        <p:spPr>
          <a:xfrm>
            <a:off x="6583680" y="2011680"/>
            <a:ext cx="4114800" cy="4114800"/>
          </a:xfrm>
          <a:prstGeom prst="ellipse">
            <a:avLst/>
          </a:prstGeom>
          <a:solidFill>
            <a:srgbClr val="091628">
              <a:alpha val="16000"/>
            </a:srgbClr>
          </a:solidFill>
          <a:ln w="12700">
            <a:solidFill>
              <a:srgbClr val="091628">
                <a:alpha val="20000"/>
              </a:srgbClr>
            </a:solidFill>
            <a:prstDash val="solid"/>
          </a:ln>
        </p:spPr>
      </p:sp>
      <p:sp>
        <p:nvSpPr>
          <p:cNvPr id="4" name="Text 1"/>
          <p:cNvSpPr/>
          <p:nvPr/>
        </p:nvSpPr>
        <p:spPr>
          <a:xfrm>
            <a:off x="457200" y="685800"/>
            <a:ext cx="8229600" cy="1188720"/>
          </a:xfrm>
          <a:prstGeom prst="rect">
            <a:avLst/>
          </a:prstGeom>
          <a:noFill/>
          <a:ln/>
        </p:spPr>
        <p:txBody>
          <a:bodyPr wrap="square" rtlCol="0" anchor="ctr"/>
          <a:lstStyle/>
          <a:p>
            <a:pPr marL="0" indent="0" algn="ctr">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5" name="Text 2"/>
          <p:cNvSpPr/>
          <p:nvPr/>
        </p:nvSpPr>
        <p:spPr>
          <a:xfrm>
            <a:off x="457200" y="1920240"/>
            <a:ext cx="8229600" cy="594360"/>
          </a:xfrm>
          <a:prstGeom prst="rect">
            <a:avLst/>
          </a:prstGeom>
          <a:noFill/>
          <a:ln/>
        </p:spPr>
        <p:txBody>
          <a:bodyPr wrap="square" rtlCol="0" anchor="ctr"/>
          <a:lstStyle/>
          <a:p>
            <a:pPr marL="0" indent="0" algn="ctr">
              <a:buNone/>
            </a:pPr>
            <a:r>
              <a:rPr lang="en-US" sz="2600" i="1" dirty="0">
                <a:solidFill>
                  <a:srgbClr val="D4E8EC"/>
                </a:solidFill>
                <a:latin typeface="Calibri" pitchFamily="34" charset="0"/>
                <a:ea typeface="Calibri" pitchFamily="34" charset="-122"/>
                <a:cs typeface="Calibri" pitchFamily="34" charset="-120"/>
              </a:rPr>
              <a:t>Questions?</a:t>
            </a:r>
            <a:endParaRPr lang="en-US" sz="2600" dirty="0"/>
          </a:p>
        </p:txBody>
      </p:sp>
      <p:sp>
        <p:nvSpPr>
          <p:cNvPr id="6" name="Text 3"/>
          <p:cNvSpPr/>
          <p:nvPr/>
        </p:nvSpPr>
        <p:spPr>
          <a:xfrm>
            <a:off x="1371600" y="2788920"/>
            <a:ext cx="640080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github.com/Patro331/blood-smear-sickle-cell-classification</a:t>
            </a:r>
            <a:endParaRPr lang="en-US" sz="1300" dirty="0"/>
          </a:p>
        </p:txBody>
      </p:sp>
      <p:sp>
        <p:nvSpPr>
          <p:cNvPr id="7" name="Text 4"/>
          <p:cNvSpPr/>
          <p:nvPr/>
        </p:nvSpPr>
        <p:spPr>
          <a:xfrm>
            <a:off x="1371600" y="3401568"/>
            <a:ext cx="6400800" cy="502920"/>
          </a:xfrm>
          <a:prstGeom prst="rect">
            <a:avLst/>
          </a:prstGeom>
          <a:solidFill>
            <a:srgbClr val="02C39A"/>
          </a:solidFill>
          <a:ln/>
        </p:spPr>
        <p:txBody>
          <a:bodyPr wrap="square" rtlCol="0" anchor="ctr"/>
          <a:lstStyle/>
          <a:p>
            <a:pPr marL="0" indent="0" algn="ctr">
              <a:buNone/>
            </a:pPr>
            <a:r>
              <a:rPr lang="en-US" sz="1300" b="1" dirty="0">
                <a:solidFill>
                  <a:srgbClr val="091628"/>
                </a:solidFill>
                <a:latin typeface="Calibri" pitchFamily="34" charset="0"/>
                <a:ea typeface="Calibri" pitchFamily="34" charset="-122"/>
                <a:cs typeface="Calibri" pitchFamily="34" charset="-120"/>
              </a:rPr>
              <a:t>Research Paper: reports/Sickle_Cell_ML_Paper.pdf</a:t>
            </a:r>
            <a:endParaRPr lang="en-US" sz="1300" dirty="0"/>
          </a:p>
        </p:txBody>
      </p:sp>
      <p:sp>
        <p:nvSpPr>
          <p:cNvPr id="8" name="Text 5"/>
          <p:cNvSpPr/>
          <p:nvPr/>
        </p:nvSpPr>
        <p:spPr>
          <a:xfrm>
            <a:off x="457200" y="4206240"/>
            <a:ext cx="8229600" cy="3200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Okidi Patrovas Gaabriel   |   2025/HD07/26020U   |   Makerere University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1950</Words>
  <Application>Microsoft Office PowerPoint</Application>
  <PresentationFormat>On-screen Show (16:9)</PresentationFormat>
  <Paragraphs>214</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Smear Sickle Cell Classification</dc:title>
  <dc:subject>PptxGenJS Presentation</dc:subject>
  <dc:creator>Okidi Patrovas Gaabriel</dc:creator>
  <cp:lastModifiedBy>Patrovas Gabriel Okidi</cp:lastModifiedBy>
  <cp:revision>3</cp:revision>
  <dcterms:created xsi:type="dcterms:W3CDTF">2026-05-18T16:18:27Z</dcterms:created>
  <dcterms:modified xsi:type="dcterms:W3CDTF">2026-05-18T18:55:53Z</dcterms:modified>
</cp:coreProperties>
</file>