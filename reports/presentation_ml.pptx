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Introduce yourself and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Open with the Uganda SCD burden. Explain the diagnostic gap. State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Describe the two datasets. Tell the story of the two data challenges — Mendeley had the wrong cells, labelled images had burned-in boxes. Show this is real research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Explain HOG — how images become a features matrix. Then describe the two models. Justify why class_weight balanced and why split before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Walk through the table. Highlight SVM wins on accuracy and AUC. Random Forest wins on sensitivity. Explain the clinical trade-off. Point out overfitting in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This is important — overfitting was identified, discussed, and addressed. Show the cross-validation results. Explain why it happens on small datasets. Show what was done to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Four honest lessons from the project. The data inspection lesson is your strongest — lean into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Five clear points. State the novelty claim confidently. End with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Thank you. Pause.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MSB7215  |  MACHINE LEARNING IN BIOMEDICINE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 for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Sickle Cell Detection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02920" y="28346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Feature Extraction with SVM and Random Forest — Applied to Ugandan Clinical Microscopy Data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3493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Okidi Patrovas Gaabriel   |   2025/HD07/26020U   |   Makerere University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041648"/>
            <a:ext cx="5669280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4041648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github.com/Patro331/blood-smear-sickle-cell-classification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MOTIVATION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49808"/>
            <a:ext cx="2011680" cy="2834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914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74320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Sickle cell trait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in Uganda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450592" y="749808"/>
            <a:ext cx="2011680" cy="2834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50592" y="914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450592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Kampala alone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26864" y="749808"/>
            <a:ext cx="2011680" cy="2834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26864" y="914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626864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born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SCD per year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03136" y="749808"/>
            <a:ext cx="2011680" cy="283464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03136" y="914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803136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clinics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labs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4320" y="3749040"/>
            <a:ext cx="8595360" cy="658368"/>
          </a:xfrm>
          <a:prstGeom prst="rect">
            <a:avLst/>
          </a:prstGeom>
          <a:solidFill>
            <a:srgbClr val="F4F8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7490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automate sickle cell screening using classical machine learning on mobile-phone microscopy images — no specialist required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49808"/>
            <a:ext cx="4160520" cy="2606040"/>
          </a:xfrm>
          <a:prstGeom prst="rect">
            <a:avLst/>
          </a:prstGeom>
          <a:solidFill>
            <a:srgbClr val="FFFFFF"/>
          </a:solidFill>
          <a:ln w="3175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49808"/>
            <a:ext cx="416052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— PRIMARY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102412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Tushabe et al. (2024)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422 sickle cell images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20391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147 normal smear images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256946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phone microscopy, Uganda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09160" y="749808"/>
            <a:ext cx="4160520" cy="2606040"/>
          </a:xfrm>
          <a:prstGeom prst="rect">
            <a:avLst/>
          </a:prstGeom>
          <a:solidFill>
            <a:srgbClr val="FFFFFF"/>
          </a:solidFill>
          <a:ln w="317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749808"/>
            <a:ext cx="416052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class — SUPPLEMENTARY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09160" y="102412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BCCD Dataset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93776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364 normal smear images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37760" y="20391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 licence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37760" y="256946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source GitHub dataset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74320" y="3493008"/>
            <a:ext cx="859536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3493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933 images total   |   Train 746   |   Test 187   |   Stratified 80 / 20 split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74320" y="39776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Mendeley replaced — contained white blood cells, not red blood cells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74320" y="43159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422 labelled images excluded — bounding box annotations burned into image pixels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49808"/>
            <a:ext cx="8595360" cy="1234440"/>
          </a:xfrm>
          <a:prstGeom prst="rect">
            <a:avLst/>
          </a:prstGeom>
          <a:solidFill>
            <a:srgbClr val="F4F8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Feature Extraction Pipeline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  →  Resize 128×128  →  Grayscale  →  HOG Algorithm  →  8100 Feature Vector  →  Features Matrix (933 × 8100)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2121408"/>
            <a:ext cx="4114800" cy="2148840"/>
          </a:xfrm>
          <a:prstGeom prst="rect">
            <a:avLst/>
          </a:prstGeom>
          <a:solidFill>
            <a:srgbClr val="F4F8FB"/>
          </a:solidFill>
          <a:ln w="3175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121408"/>
            <a:ext cx="411480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1396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4323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7889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Finds optimal separating hyperplane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2644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class_weight=balanced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7398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GridSearchCV: C, kernel, gamma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36592" y="2121408"/>
            <a:ext cx="4114800" cy="2148840"/>
          </a:xfrm>
          <a:prstGeom prst="rect">
            <a:avLst/>
          </a:prstGeom>
          <a:solidFill>
            <a:srgbClr val="F4F8FB"/>
          </a:solidFill>
          <a:ln w="317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36592" y="2121408"/>
            <a:ext cx="411480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3752" y="21396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73752" y="24323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19472" y="27889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100-200 decision trees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19472" y="32644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class_weight=balanced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19472" y="37398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GridSearchCV: depth, estimators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74320" y="4370832"/>
            <a:ext cx="8595360" cy="457200"/>
          </a:xfrm>
          <a:prstGeom prst="rect">
            <a:avLst/>
          </a:prstGeom>
          <a:solidFill>
            <a:srgbClr val="D6EAF0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37083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done BEFORE scaling to prevent data leakage. Scaler fitted on training data only.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83464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</a:tblGrid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91.98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0.9651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0.9133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96.47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91.18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/ 187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Gap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8.02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749040"/>
            <a:ext cx="393192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57200" y="37490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wins overall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91.98% accuracy, 15 errors, AUC 0.9651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754880" y="3749040"/>
            <a:ext cx="393192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754880" y="37490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wins on sensitivity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96.47% — fewer missed sickle cell cases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ANALYSIS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4114800" cy="3200400"/>
          </a:xfrm>
          <a:prstGeom prst="rect">
            <a:avLst/>
          </a:prstGeom>
          <a:solidFill>
            <a:srgbClr val="F4F8FB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77240"/>
            <a:ext cx="411480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772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38988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accuracy:   100.00%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739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        91.98%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15798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gap:            8.02%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5420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mean (5-fold):    85.12%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9260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 dev:               0.80%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3101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Mild overfitting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777240"/>
            <a:ext cx="4114800" cy="3200400"/>
          </a:xfrm>
          <a:prstGeom prst="rect">
            <a:avLst/>
          </a:prstGeom>
          <a:solidFill>
            <a:srgbClr val="F4F8FB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777240"/>
            <a:ext cx="411480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7772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37760" y="138988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accuracy:   100.00%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37760" y="17739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        87.17%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937760" y="215798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gap:          12.83%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37760" y="25420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mean (5-fold):    85.12%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37760" y="29260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 dev:               1.15%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33101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Significant overfitting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solidFill>
            <a:srgbClr val="D6EAF0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applied: GridSearchCV with 5-fold cross-validation to tune regularisation parameters and reduce gap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411480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77240"/>
            <a:ext cx="548640" cy="1965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" y="1490472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94183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your data before writing any code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167335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 problems were invisible until manual inspection.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36592" y="777240"/>
            <a:ext cx="411480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6592" y="777240"/>
            <a:ext cx="548640" cy="1965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490472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4960" y="94183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before scaling — always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94960" y="167335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the scaler before splitting leaks test data into training.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926080"/>
            <a:ext cx="411480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2129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926080"/>
            <a:ext cx="548640" cy="19659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3639312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32688" y="309067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must be actively checked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32688" y="382219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training accuracy is a warning sign, not a good result.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36592" y="2926080"/>
            <a:ext cx="411480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36592" y="2926080"/>
            <a:ext cx="548640" cy="1965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3639312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94960" y="309067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matters more than accuracy in screening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94960" y="382219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sickle cell case is worse than a false alarm.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548640" y="2743200"/>
            <a:ext cx="3200400" cy="32004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6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603504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822960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43000" y="822960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ML study applied to the Tushabe (2024) Ugandan clinical microscopy dataset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8229600" cy="603504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554480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43000" y="1554480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91.98% accuracy, AUC 0.9651 — Random Forest: 96.47% sensitivity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603504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286000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43000" y="2286000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show overfitting — identified, analysed, and partially addressed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017520"/>
            <a:ext cx="8229600" cy="603504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017520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⚕️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43000" y="3017520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with HOG features is viable for low-resource sickle cell screening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749040"/>
            <a:ext cx="8229600" cy="603504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749040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143000" y="3749040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larger dataset, additional features, clinical validation in Uganda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0D2137">
              <a:alpha val="16000"/>
            </a:srgbClr>
          </a:solidFill>
          <a:ln w="12700">
            <a:solidFill>
              <a:srgbClr val="0D2137">
                <a:alpha val="2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40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371600" y="2633472"/>
            <a:ext cx="6400800" cy="530352"/>
          </a:xfrm>
          <a:prstGeom prst="rect">
            <a:avLst/>
          </a:prstGeom>
          <a:solidFill>
            <a:srgbClr val="0D2137">
              <a:alpha val="78000"/>
            </a:srgbClr>
          </a:solidFill>
          <a:ln w="12700">
            <a:solidFill>
              <a:srgbClr val="0D2137">
                <a:alpha val="7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2633472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github.com/Patro331/blood-smear-sickle-cell-classification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71600" y="3310128"/>
            <a:ext cx="640080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371600" y="3310128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Paper: reports/Sickle_Cell_ML_Paper.pdf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Okidi Patrovas Gaabriel   |   2025/HD07/26020U   |   Makerere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Sickle Cell ML Classification — MSB7215</dc:title>
  <dc:subject>PptxGenJS Presentation</dc:subject>
  <dc:creator>Okidi Patrovas Gaabriel</dc:creator>
  <cp:lastModifiedBy>Okidi Patrovas Gaabriel</cp:lastModifiedBy>
  <cp:revision>1</cp:revision>
  <dcterms:created xsi:type="dcterms:W3CDTF">2026-05-15T20:47:44Z</dcterms:created>
  <dcterms:modified xsi:type="dcterms:W3CDTF">2026-05-15T20:47:44Z</dcterms:modified>
</cp:coreProperties>
</file>