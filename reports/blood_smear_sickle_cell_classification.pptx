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sec. Introduce yourself and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min. Open with the Uganda SCD burden. Explain the diagnostic gap. State the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min. Describe both datasets. Tell the story of the two data challenges — Mendeley had wrong cells, labelled images had burned-in boxes.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min. Explain HOG briefly. Describe the two models. Justify split before scaling.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min. Walk through the table. SVM wins on accuracy and AUC. RF wins on sensitivity. Explain the clinical trade-off. Point out overfitting.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 min. Overfitting was identified, discussed, and addressed. Show CV results. Explain why it happens on small datasets.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This is the key slide. Walk through the full table. Explain that DL results are from a prior study on the same dataset — cite it. Highlight where classical ML is competitive.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Four honest lessons from this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Five clear points. State the novelty claim confidently. End with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sec. Thank you. Pause.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766560" y="-1097280"/>
            <a:ext cx="3840480" cy="3840480"/>
          </a:xfrm>
          <a:prstGeom prst="ellipse">
            <a:avLst/>
          </a:prstGeom>
          <a:solidFill>
            <a:srgbClr val="1C7293">
              <a:alpha val="16000"/>
            </a:srgbClr>
          </a:solidFill>
          <a:ln w="12700">
            <a:solidFill>
              <a:srgbClr val="1C7293">
                <a:alpha val="2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MSB7215  |  MACHINE LEARNING IN BIOMEDICINE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77724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Smear Sickle Cell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02920" y="28346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with HOG Features — SVM and Random Forest — Ugandan Clinical Microscopy Data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34930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Okidi Patrovas Gaabriel   |   2025/HD07/26020U   |   Makerere University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4041648"/>
            <a:ext cx="5943600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4041648"/>
            <a:ext cx="5943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github.com/Patro331/blood-smear-sickle-cell-classification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MOTIVATION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749808"/>
            <a:ext cx="2011680" cy="2834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74320" y="9144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13.3%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274320" y="20116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Sickle cell trait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in Uganda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450592" y="749808"/>
            <a:ext cx="2011680" cy="2834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450592" y="9144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19.8%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2450592" y="20116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Kampala alone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26864" y="749808"/>
            <a:ext cx="2011680" cy="28346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26864" y="9144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20,000+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4626864" y="20116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born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SCD per year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03136" y="749808"/>
            <a:ext cx="2011680" cy="283464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03136" y="9144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6803136" y="201168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clinics with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4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labs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74320" y="3749040"/>
            <a:ext cx="8595360" cy="658368"/>
          </a:xfrm>
          <a:prstGeom prst="rect">
            <a:avLst/>
          </a:prstGeom>
          <a:solidFill>
            <a:srgbClr val="F4F8FB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374904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automate sickle cell screening using classical ML on mobile-phone microscopy images — no specialist required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749808"/>
            <a:ext cx="4160520" cy="2606040"/>
          </a:xfrm>
          <a:prstGeom prst="rect">
            <a:avLst/>
          </a:prstGeom>
          <a:solidFill>
            <a:srgbClr val="FFFFFF"/>
          </a:solidFill>
          <a:ln w="3175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749808"/>
            <a:ext cx="4160520" cy="6217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74980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Uganda — PRIMARY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74320" y="1024128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Tushabe et al. (2024)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1508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422 sickle cell images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203911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147 normal smear images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256946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 phone microscopy, Uganda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09160" y="749808"/>
            <a:ext cx="4160520" cy="2606040"/>
          </a:xfrm>
          <a:prstGeom prst="rect">
            <a:avLst/>
          </a:prstGeom>
          <a:solidFill>
            <a:srgbClr val="FFFFFF"/>
          </a:solidFill>
          <a:ln w="3175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749808"/>
            <a:ext cx="4160520" cy="6217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9160" y="74980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class — SUPPLEMENTARY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709160" y="1024128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BCCD Dataset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937760" y="1508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364 normal smear images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937760" y="203911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MIT licence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937760" y="256946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source GitHub dataset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274320" y="3493008"/>
            <a:ext cx="859536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34930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933 images total   |   Train 746   |   Test 187   |   Stratified 80 / 20 split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274320" y="39776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Mendeley replaced — contained white blood cells, not red blood cells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74320" y="4315968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422 labelled images excluded — bounding box annotations burned into image pixels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749808"/>
            <a:ext cx="8595360" cy="1188720"/>
          </a:xfrm>
          <a:prstGeom prst="rect">
            <a:avLst/>
          </a:prstGeom>
          <a:solidFill>
            <a:srgbClr val="F4F8FB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Feature Extraction Pipeline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0789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Image  →  Resize 128×128  →  Grayscale  →  HOG Algorithm  →  8100 Feature Vector  →  Features Matrix (933 × 8100)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2084832"/>
            <a:ext cx="4114800" cy="2103120"/>
          </a:xfrm>
          <a:prstGeom prst="rect">
            <a:avLst/>
          </a:prstGeom>
          <a:solidFill>
            <a:srgbClr val="F4F8FB"/>
          </a:solidFill>
          <a:ln w="3175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2084832"/>
            <a:ext cx="4114800" cy="5303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2103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11480" y="23774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kernel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2743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Optimal separating hyperplane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3200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class_weight=balanced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3657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GridSearchCV: C, kernel, gamma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736592" y="2084832"/>
            <a:ext cx="4114800" cy="2103120"/>
          </a:xfrm>
          <a:prstGeom prst="rect">
            <a:avLst/>
          </a:prstGeom>
          <a:solidFill>
            <a:srgbClr val="F4F8FB"/>
          </a:solidFill>
          <a:ln w="3175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36592" y="2084832"/>
            <a:ext cx="4114800" cy="5303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73752" y="2103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873752" y="23774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919472" y="2743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100-200 decision trees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919472" y="3200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class_weight=balanced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919472" y="3657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GridSearchCV: depth, estimators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D6EAF0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 done BEFORE scaling to prevent data leakage. Scaler fitted on training data only.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RESULTS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2788920"/>
        </p:xfrm>
        <a:graphic>
          <a:graphicData uri="http://schemas.openxmlformats.org/drawingml/2006/table">
            <a:tbl>
              <a:tblPr/>
              <a:tblGrid>
                <a:gridCol w="3657600"/>
                <a:gridCol w="2286000"/>
                <a:gridCol w="2286000"/>
              </a:tblGrid>
              <a:tr h="3486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Accuracy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91.98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0.9651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0.9133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96.47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Specificity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91.18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Errors / 187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 Gap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8.02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703320"/>
            <a:ext cx="393192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457200" y="37033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wins overall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91.98% accuracy, 15 errors, AUC 0.9651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754880" y="3703320"/>
            <a:ext cx="3931920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4754880" y="37033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wins on sensitivity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96.47% — fewer missed sickle cell cases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ANALYSIS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4114800" cy="3154680"/>
          </a:xfrm>
          <a:prstGeom prst="rect">
            <a:avLst/>
          </a:prstGeom>
          <a:solidFill>
            <a:srgbClr val="F4F8FB"/>
          </a:solidFill>
          <a:ln w="254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777240"/>
            <a:ext cx="4114800" cy="4754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77724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137160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accuracy:   100.00%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75564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         91.98%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213969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gap:            8.02%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252374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mean (5-fold):    85.12%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290779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std dev:               0.80%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329184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Mild overfitting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754880" y="777240"/>
            <a:ext cx="4114800" cy="3154680"/>
          </a:xfrm>
          <a:prstGeom prst="rect">
            <a:avLst/>
          </a:prstGeom>
          <a:solidFill>
            <a:srgbClr val="F4F8FB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777240"/>
            <a:ext cx="4114800" cy="4754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77724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937760" y="137160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accuracy:   100.00%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937760" y="175564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         87.17%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937760" y="213969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gap:          12.83%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937760" y="252374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mean (5-fold):    85.12%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937760" y="290779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std dev:               1.15%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37760" y="329184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Significant overfitting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274320" y="4069080"/>
            <a:ext cx="8595360" cy="658368"/>
          </a:xfrm>
          <a:prstGeom prst="rect">
            <a:avLst/>
          </a:prstGeom>
          <a:solidFill>
            <a:srgbClr val="D6EAF0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406908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applied: GridSearchCV with 5-fold cross-validation to tune regularisation parameters and reduce gap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vs DEEP LEARNING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49808"/>
          <a:ext cx="8595360" cy="274320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146304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91.98%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92.94%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87.17%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96.47%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CNN 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87.86%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95.24%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 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95.24%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ResNet-50 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98.57%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0.9973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98.41%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274320" y="3611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Deep learning results from: Okidi Patrovas Gaabriel (2026). github.com/Patro331/sickle-cell-detection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274320" y="3977640"/>
            <a:ext cx="274320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274320" y="397764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competitive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EfficientNet-B0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246120" y="3977640"/>
            <a:ext cx="2743200" cy="7498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246120" y="397764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sensitivity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EfficientNet-B0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17920" y="3977640"/>
            <a:ext cx="2743200" cy="7498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217920" y="397764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best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performer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411480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65A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777240"/>
            <a:ext cx="548640" cy="1965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92608" y="1490472"/>
            <a:ext cx="530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32688" y="94183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your data before writing any code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32688" y="1673352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dataset problems were invisible until manual inspection.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36592" y="777240"/>
            <a:ext cx="411480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36592" y="777240"/>
            <a:ext cx="548640" cy="1965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0" y="1490472"/>
            <a:ext cx="530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394960" y="94183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before scaling — always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394960" y="1673352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the scaler before splitting leaks test data into training.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2926080"/>
            <a:ext cx="411480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2129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2926080"/>
            <a:ext cx="548640" cy="19659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2608" y="3639312"/>
            <a:ext cx="530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32688" y="309067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must be actively checked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32688" y="3822192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100% training accuracy is a warning sign, not a good result.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36592" y="2926080"/>
            <a:ext cx="411480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E8A0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36592" y="2926080"/>
            <a:ext cx="548640" cy="19659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54880" y="3639312"/>
            <a:ext cx="530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394960" y="309067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is still useful at 91.98% accuracy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394960" y="3822192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needed — viable for low-resource Ugandan health settings.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548640" y="2743200"/>
            <a:ext cx="3200400" cy="3200400"/>
          </a:xfrm>
          <a:prstGeom prst="ellipse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>
                <a:alpha val="16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6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822960"/>
            <a:ext cx="8229600" cy="603504"/>
          </a:xfrm>
          <a:prstGeom prst="rect">
            <a:avLst/>
          </a:prstGeom>
          <a:solidFill>
            <a:srgbClr val="1A3A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822960"/>
            <a:ext cx="594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143000" y="822960"/>
            <a:ext cx="7406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ML study on the Tushabe (2024) Ugandan clinical mobile-phone microscopy dataset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554480"/>
            <a:ext cx="8229600" cy="603504"/>
          </a:xfrm>
          <a:prstGeom prst="rect">
            <a:avLst/>
          </a:prstGeom>
          <a:solidFill>
            <a:srgbClr val="1A3A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554480"/>
            <a:ext cx="594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143000" y="1554480"/>
            <a:ext cx="7406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SVM: 91.98% accuracy, AUC 0.9651 — Random Forest: 96.47% sensitivity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8229600" cy="603504"/>
          </a:xfrm>
          <a:prstGeom prst="rect">
            <a:avLst/>
          </a:prstGeom>
          <a:solidFill>
            <a:srgbClr val="1A3A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286000"/>
            <a:ext cx="594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143000" y="2286000"/>
            <a:ext cx="7406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show overfitting — identified, analysed, and partially addressed via GridSearchCV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3017520"/>
            <a:ext cx="8229600" cy="603504"/>
          </a:xfrm>
          <a:prstGeom prst="rect">
            <a:avLst/>
          </a:prstGeom>
          <a:solidFill>
            <a:srgbClr val="1A3A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3017520"/>
            <a:ext cx="594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143000" y="3017520"/>
            <a:ext cx="7406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(ResNet-50, 98.57%) outperforms classical ML but classical ML remains viable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3749040"/>
            <a:ext cx="8229600" cy="603504"/>
          </a:xfrm>
          <a:prstGeom prst="rect">
            <a:avLst/>
          </a:prstGeom>
          <a:solidFill>
            <a:srgbClr val="1A3A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3749040"/>
            <a:ext cx="594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143000" y="3749040"/>
            <a:ext cx="7406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larger dataset, additional features, clinical validation in Uganda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0" y="1828800"/>
            <a:ext cx="4114800" cy="4114800"/>
          </a:xfrm>
          <a:prstGeom prst="ellipse">
            <a:avLst/>
          </a:prstGeom>
          <a:solidFill>
            <a:srgbClr val="0D2137">
              <a:alpha val="16000"/>
            </a:srgbClr>
          </a:solidFill>
          <a:ln w="12700">
            <a:solidFill>
              <a:srgbClr val="0D2137">
                <a:alpha val="2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6400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5" name="Text 2"/>
          <p:cNvSpPr/>
          <p:nvPr/>
        </p:nvSpPr>
        <p:spPr>
          <a:xfrm>
            <a:off x="457200" y="1828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D6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1371600" y="2633472"/>
            <a:ext cx="6400800" cy="530352"/>
          </a:xfrm>
          <a:prstGeom prst="rect">
            <a:avLst/>
          </a:prstGeom>
          <a:solidFill>
            <a:srgbClr val="0D2137">
              <a:alpha val="78000"/>
            </a:srgbClr>
          </a:solidFill>
          <a:ln w="12700">
            <a:solidFill>
              <a:srgbClr val="0D2137">
                <a:alpha val="78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0" y="2633472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github.com/Patro331/blood-smear-sickle-cell-classification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371600" y="3310128"/>
            <a:ext cx="6400800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371600" y="3310128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Paper: reports/Sickle_Cell_ML_Paper.pdf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160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Okidi Patrovas Gaabriel   |   2025/HD07/26020U   |   Makerere University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 Smear Sickle Cell Classification — MSB7215</dc:title>
  <dc:subject>PptxGenJS Presentation</dc:subject>
  <dc:creator>Okidi Patrovas Gaabriel</dc:creator>
  <cp:lastModifiedBy>Okidi Patrovas Gaabriel</cp:lastModifiedBy>
  <cp:revision>1</cp:revision>
  <dcterms:created xsi:type="dcterms:W3CDTF">2026-05-15T21:32:19Z</dcterms:created>
  <dcterms:modified xsi:type="dcterms:W3CDTF">2026-05-15T21:32:19Z</dcterms:modified>
</cp:coreProperties>
</file>